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fc287bf498412d" /><Relationship Type="http://schemas.openxmlformats.org/officeDocument/2006/relationships/extended-properties" Target="/docProps/app.xml" Id="R96cab021a99a4adc" /><Relationship Type="http://schemas.openxmlformats.org/officeDocument/2006/relationships/officeDocument" Target="/ppt/presentation.xml" Id="Rf098a0cdfca040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b24445a51b4cd0"/>
  </p:sldMasterIdLst>
  <p:notesMasterIdLst>
    <p:notesMasterId xmlns:r="http://schemas.openxmlformats.org/officeDocument/2006/relationships" r:id="R145dc947a0044daa"/>
  </p:notesMasterIdLst>
  <p:sldIdLst>
    <p:sldId xmlns:r="http://schemas.openxmlformats.org/officeDocument/2006/relationships" id="256" r:id="Rd750941d67714380"/>
    <p:sldId xmlns:r="http://schemas.openxmlformats.org/officeDocument/2006/relationships" id="257" r:id="R79d7a06f8bd3421f"/>
    <p:sldId xmlns:r="http://schemas.openxmlformats.org/officeDocument/2006/relationships" id="258" r:id="R6caa755648844493"/>
    <p:sldId xmlns:r="http://schemas.openxmlformats.org/officeDocument/2006/relationships" id="259" r:id="Ra15c030d87f64df6"/>
    <p:sldId xmlns:r="http://schemas.openxmlformats.org/officeDocument/2006/relationships" id="260" r:id="Ra3437121e9144b06"/>
    <p:sldId xmlns:r="http://schemas.openxmlformats.org/officeDocument/2006/relationships" id="261" r:id="R9e3bf55702dd41d5"/>
    <p:sldId xmlns:r="http://schemas.openxmlformats.org/officeDocument/2006/relationships" id="262" r:id="R5993ba07111849df"/>
    <p:sldId xmlns:r="http://schemas.openxmlformats.org/officeDocument/2006/relationships" id="263" r:id="R14eeb69af0e0490b"/>
    <p:sldId xmlns:r="http://schemas.openxmlformats.org/officeDocument/2006/relationships" id="264" r:id="R9e6d0c6725244d22"/>
    <p:sldId xmlns:r="http://schemas.openxmlformats.org/officeDocument/2006/relationships" id="265" r:id="R06f04df73cb94e8c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041643bff74b27" /><Relationship Type="http://schemas.openxmlformats.org/officeDocument/2006/relationships/slideMaster" Target="/ppt/slideMasters/slideMaster1.xml" Id="Rfdb24445a51b4cd0" /><Relationship Type="http://schemas.openxmlformats.org/officeDocument/2006/relationships/notesMaster" Target="/ppt/notesMasters/notesMaster1.xml" Id="R145dc947a0044daa" /><Relationship Type="http://schemas.openxmlformats.org/officeDocument/2006/relationships/presProps" Target="/ppt/presProps.xml" Id="R778c1fa15dfd4001" /><Relationship Type="http://schemas.openxmlformats.org/officeDocument/2006/relationships/tableStyles" Target="/ppt/tableStyles.xml" Id="R06f116545405472a" /><Relationship Type="http://schemas.openxmlformats.org/officeDocument/2006/relationships/slide" Target="/ppt/slides/slide1.xml" Id="Rd750941d67714380" /><Relationship Type="http://schemas.openxmlformats.org/officeDocument/2006/relationships/slide" Target="/ppt/slides/slide2.xml" Id="R79d7a06f8bd3421f" /><Relationship Type="http://schemas.openxmlformats.org/officeDocument/2006/relationships/slide" Target="/ppt/slides/slide3.xml" Id="R6caa755648844493" /><Relationship Type="http://schemas.openxmlformats.org/officeDocument/2006/relationships/slide" Target="/ppt/slides/slide4.xml" Id="Ra15c030d87f64df6" /><Relationship Type="http://schemas.openxmlformats.org/officeDocument/2006/relationships/slide" Target="/ppt/slides/slide5.xml" Id="Ra3437121e9144b06" /><Relationship Type="http://schemas.openxmlformats.org/officeDocument/2006/relationships/slide" Target="/ppt/slides/slide6.xml" Id="R9e3bf55702dd41d5" /><Relationship Type="http://schemas.openxmlformats.org/officeDocument/2006/relationships/slide" Target="/ppt/slides/slide7.xml" Id="R5993ba07111849df" /><Relationship Type="http://schemas.openxmlformats.org/officeDocument/2006/relationships/slide" Target="/ppt/slides/slide8.xml" Id="R14eeb69af0e0490b" /><Relationship Type="http://schemas.openxmlformats.org/officeDocument/2006/relationships/slide" Target="/ppt/slides/slide9.xml" Id="R9e6d0c6725244d22" /><Relationship Type="http://schemas.openxmlformats.org/officeDocument/2006/relationships/slide" Target="/ppt/slides/slide10.xml" Id="R06f04df73cb94e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983fafa8394e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2eb4e16cb143fc" /><Relationship Type="http://schemas.openxmlformats.org/officeDocument/2006/relationships/notesMaster" Target="/ppt/notesMasters/notesMaster1.xml" Id="R0c94900b718345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e62a6d6a944aba" /><Relationship Type="http://schemas.openxmlformats.org/officeDocument/2006/relationships/notesMaster" Target="/ppt/notesMasters/notesMaster1.xml" Id="Re6364bb9e9d34e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869b2d88f54022" /><Relationship Type="http://schemas.openxmlformats.org/officeDocument/2006/relationships/notesMaster" Target="/ppt/notesMasters/notesMaster1.xml" Id="R8371a736b68d41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9a439ff6fa475f" /><Relationship Type="http://schemas.openxmlformats.org/officeDocument/2006/relationships/notesMaster" Target="/ppt/notesMasters/notesMaster1.xml" Id="R69b6f05e834d4a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92b68dd666436f" /><Relationship Type="http://schemas.openxmlformats.org/officeDocument/2006/relationships/notesMaster" Target="/ppt/notesMasters/notesMaster1.xml" Id="Rc178ecfa51c54b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8c045ab49a4d3e" /><Relationship Type="http://schemas.openxmlformats.org/officeDocument/2006/relationships/notesMaster" Target="/ppt/notesMasters/notesMaster1.xml" Id="R948a7081f7c94b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5bf849bc0d4c5c" /><Relationship Type="http://schemas.openxmlformats.org/officeDocument/2006/relationships/notesMaster" Target="/ppt/notesMasters/notesMaster1.xml" Id="R0bc5b774c7b148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dc3addeebf40d8" /><Relationship Type="http://schemas.openxmlformats.org/officeDocument/2006/relationships/notesMaster" Target="/ppt/notesMasters/notesMaster1.xml" Id="R0f7ae1d6ca0d4e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36176fe7874629" /><Relationship Type="http://schemas.openxmlformats.org/officeDocument/2006/relationships/notesMaster" Target="/ppt/notesMasters/notesMaster1.xml" Id="R1b561771d24a40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5c9f1bf466458a" /><Relationship Type="http://schemas.openxmlformats.org/officeDocument/2006/relationships/notesMaster" Target="/ppt/notesMasters/notesMaster1.xml" Id="R3623e80748824a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3b4692e044e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3a66484ef24541" /><Relationship Type="http://schemas.openxmlformats.org/officeDocument/2006/relationships/slideLayout" Target="/ppt/slideLayouts/slideLayout1.xml" Id="Rec5e4cc08c4149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5e4cc08c4149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45a6c3ae64584" /><Relationship Type="http://schemas.openxmlformats.org/officeDocument/2006/relationships/notesSlide" Target="/ppt/notesSlides/notesSlide1.xml" Id="R25b01a3bf8454d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5f6321a3a4535" /><Relationship Type="http://schemas.openxmlformats.org/officeDocument/2006/relationships/notesSlide" Target="/ppt/notesSlides/notesSlide2.xml" Id="Rec39d0fc21df44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98441c5d54ed1" /><Relationship Type="http://schemas.openxmlformats.org/officeDocument/2006/relationships/chart" Target="/ppt/slides/charts/chart1.xml" Id="Rad440840abd7411f" /><Relationship Type="http://schemas.openxmlformats.org/officeDocument/2006/relationships/notesSlide" Target="/ppt/notesSlides/notesSlide3.xml" Id="R9ba1dd19db4242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c1b8af51b4ae4" /><Relationship Type="http://schemas.openxmlformats.org/officeDocument/2006/relationships/chart" Target="/ppt/slides/charts/chart2.xml" Id="Rf353364708f94e01" /><Relationship Type="http://schemas.openxmlformats.org/officeDocument/2006/relationships/notesSlide" Target="/ppt/notesSlides/notesSlide4.xml" Id="R16c87c7011a446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b7479ec874ae0" /><Relationship Type="http://schemas.openxmlformats.org/officeDocument/2006/relationships/chart" Target="/ppt/slides/charts/chart3.xml" Id="R62207004bfe04350" /><Relationship Type="http://schemas.openxmlformats.org/officeDocument/2006/relationships/notesSlide" Target="/ppt/notesSlides/notesSlide5.xml" Id="R2aa2f6fc493b48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c384812d74cf3" /><Relationship Type="http://schemas.openxmlformats.org/officeDocument/2006/relationships/chart" Target="/ppt/slides/charts/chart4.xml" Id="R408694c7cf7e4d8c" /><Relationship Type="http://schemas.openxmlformats.org/officeDocument/2006/relationships/notesSlide" Target="/ppt/notesSlides/notesSlide6.xml" Id="Ra36f05eddd8e45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3cb2599e8405f" /><Relationship Type="http://schemas.openxmlformats.org/officeDocument/2006/relationships/notesSlide" Target="/ppt/notesSlides/notesSlide7.xml" Id="Rd7e7e02c59f14d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1c5180ac045f1" /><Relationship Type="http://schemas.openxmlformats.org/officeDocument/2006/relationships/notesSlide" Target="/ppt/notesSlides/notesSlide8.xml" Id="R75122a50a05542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c216d8f0f4145" /><Relationship Type="http://schemas.openxmlformats.org/officeDocument/2006/relationships/notesSlide" Target="/ppt/notesSlides/notesSlide9.xml" Id="R428179142cf44d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1efff0f194eac" /><Relationship Type="http://schemas.openxmlformats.org/officeDocument/2006/relationships/notesSlide" Target="/ppt/notesSlides/notesSlide10.xml" Id="Rd453fd42017c48d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STRENGTH INDEX</c:v>
          </c:tx>
          <c:spPr>
            <a:solidFill xmlns:a="http://schemas.openxmlformats.org/drawingml/2006/main">
              <a:srgbClr val="A485B2"/>
            </a:solidFill>
          </c:spPr>
          <c:cat>
            <c:strLit>
              <c:ptCount val="2"/>
              <c:pt idx="0">
                <c:v>BASELINE</c:v>
              </c:pt>
              <c:pt idx="1">
                <c:v>6 MONTHS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114.3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4F1E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262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A6A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0B0C"/>
        </a:solidFill>
        <a:ln xmlns:a="http://schemas.openxmlformats.org/drawingml/2006/main" w="0">
          <a:solidFill>
            <a:srgbClr val="0B0B0C"/>
          </a:solidFill>
          <a:prstDash val="solid"/>
        </a:ln>
      </c:spPr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STRENGTH INDEX</c:v>
          </c:tx>
          <c:spPr>
            <a:solidFill xmlns:a="http://schemas.openxmlformats.org/drawingml/2006/main">
              <a:srgbClr val="A485B2"/>
            </a:solidFill>
          </c:spPr>
          <c:cat>
            <c:strLit>
              <c:ptCount val="2"/>
              <c:pt idx="0">
                <c:v>BASELINE</c:v>
              </c:pt>
              <c:pt idx="1">
                <c:v>6 MONTHS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114.2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4F1E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262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A6A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0B0C"/>
        </a:solidFill>
        <a:ln xmlns:a="http://schemas.openxmlformats.org/drawingml/2006/main" w="0">
          <a:solidFill>
            <a:srgbClr val="0B0B0C"/>
          </a:solidFill>
          <a:prstDash val="solid"/>
        </a:ln>
      </c:spPr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STRENGTH INDEX</c:v>
          </c:tx>
          <c:spPr>
            <a:solidFill xmlns:a="http://schemas.openxmlformats.org/drawingml/2006/main">
              <a:srgbClr val="A485B2"/>
            </a:solidFill>
          </c:spPr>
          <c:cat>
            <c:strLit>
              <c:ptCount val="2"/>
              <c:pt idx="0">
                <c:v>BASELINE</c:v>
              </c:pt>
              <c:pt idx="1">
                <c:v>6 MONTHS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146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4F1E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262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A6A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0B0C"/>
        </a:solidFill>
        <a:ln xmlns:a="http://schemas.openxmlformats.org/drawingml/2006/main" w="0">
          <a:solidFill>
            <a:srgbClr val="0B0B0C"/>
          </a:solidFill>
          <a:prstDash val="solid"/>
        </a:ln>
      </c:spPr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STRENGTH INDEX</c:v>
          </c:tx>
          <c:spPr>
            <a:solidFill xmlns:a="http://schemas.openxmlformats.org/drawingml/2006/main">
              <a:srgbClr val="A485B2"/>
            </a:solidFill>
          </c:spPr>
          <c:cat>
            <c:strLit>
              <c:ptCount val="2"/>
              <c:pt idx="0">
                <c:v>BASELINE</c:v>
              </c:pt>
              <c:pt idx="1">
                <c:v>6 MONTHS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135.7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4F1E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262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A6A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0B0C"/>
        </a:solidFill>
        <a:ln xmlns:a="http://schemas.openxmlformats.org/drawingml/2006/main" w="0">
          <a:solidFill>
            <a:srgbClr val="0B0B0C"/>
          </a:solidFill>
          <a:prstDash val="solid"/>
        </a:ln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The Evolved Wo">
            <a:extLst xmlns:a="http://schemas.openxmlformats.org/drawingml/2006/main">
              <a:ext uri="{FF2B5EF4-FFF2-40B4-BE49-F238E27FC236}">
                <a16:creationId xmlns:a16="http://schemas.microsoft.com/office/drawing/2014/main" id="{2CC148D6-6AC4-4662-95E3-4824D44E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85B2"/>
                </a:solidFill>
              </a:defRPr>
            </a:pPr>
            <a:r>
              <a:rPr sz="1500" b="1" i="0">
                <a:solidFill>
                  <a:srgbClr val="A485B2"/>
                </a:solidFill>
              </a:rPr>
              <a:t>THE EVOLVED WOMEN'S STRENGTH REPORT 2026</a:t>
            </a:r>
          </a:p>
        </p:txBody>
      </p:sp>
      <p:sp>
        <p:nvSpPr>
          <p:cNvPr id="2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410B42CF-A8DD-4297-B1FB-0E6F79AC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953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 i="0">
                <a:solidFill>
                  <a:srgbClr val="F4F1EA"/>
                </a:solidFill>
              </a:defRPr>
            </a:pPr>
            <a:r>
              <a:rPr sz="6900" b="1" i="0">
                <a:solidFill>
                  <a:srgbClr val="F4F1EA"/>
                </a:solidFill>
              </a:rPr>
              <a:t>We've always</a:t>
            </a:r>
          </a:p>
        </p:txBody>
      </p:sp>
      <p:sp>
        <p:nvSpPr>
          <p:cNvPr id="3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152A55C4-1673-4A56-9CB8-DD4997C3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8953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 i="0">
                <a:solidFill>
                  <a:srgbClr val="A485B2"/>
                </a:solidFill>
              </a:defRPr>
            </a:pPr>
            <a:r>
              <a:rPr sz="6900" b="1" i="0">
                <a:solidFill>
                  <a:srgbClr val="A485B2"/>
                </a:solidFill>
              </a:rPr>
              <a:t>measured.</a:t>
            </a:r>
          </a:p>
        </p:txBody>
      </p:sp>
      <p:sp>
        <p:nvSpPr>
          <p:cNvPr id="4" name="cover-line-3">
            <a:extLst xmlns:a="http://schemas.openxmlformats.org/drawingml/2006/main">
              <a:ext uri="{FF2B5EF4-FFF2-40B4-BE49-F238E27FC236}">
                <a16:creationId xmlns:a16="http://schemas.microsoft.com/office/drawing/2014/main" id="{22DEBCFA-5D0B-4BB1-8C27-4DA8B0AF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8953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 i="0">
                <a:solidFill>
                  <a:srgbClr val="F4F1EA"/>
                </a:solidFill>
              </a:defRPr>
            </a:pPr>
            <a:r>
              <a:rPr sz="6900" b="1" i="0">
                <a:solidFill>
                  <a:srgbClr val="F4F1EA"/>
                </a:solidFill>
              </a:rPr>
              <a:t>Now we've</a:t>
            </a:r>
          </a:p>
        </p:txBody>
      </p:sp>
      <p:sp>
        <p:nvSpPr>
          <p:cNvPr id="5" name="cover-line-4">
            <a:extLst xmlns:a="http://schemas.openxmlformats.org/drawingml/2006/main">
              <a:ext uri="{FF2B5EF4-FFF2-40B4-BE49-F238E27FC236}">
                <a16:creationId xmlns:a16="http://schemas.microsoft.com/office/drawing/2014/main" id="{B46645D8-95EC-491C-BC85-E3129EE0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8953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 i="0">
                <a:solidFill>
                  <a:srgbClr val="A485B2"/>
                </a:solidFill>
              </a:defRPr>
            </a:pPr>
            <a:r>
              <a:rPr sz="6900" b="1" i="0">
                <a:solidFill>
                  <a:srgbClr val="A485B2"/>
                </a:solidFill>
              </a:rPr>
              <a:t>analysed.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DB4DE8AC-C0B3-462C-BCA8-1F635C25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stat-0">
            <a:extLst xmlns:a="http://schemas.openxmlformats.org/drawingml/2006/main">
              <a:ext uri="{FF2B5EF4-FFF2-40B4-BE49-F238E27FC236}">
                <a16:creationId xmlns:a16="http://schemas.microsoft.com/office/drawing/2014/main" id="{E182383E-BCDC-4C22-8ADA-2D4673E4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0"/>
            <a:ext cx="428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F4F1EA"/>
                </a:solidFill>
              </a:defRPr>
            </a:pPr>
            <a:r>
              <a:rPr sz="5850" b="1" i="0">
                <a:solidFill>
                  <a:srgbClr val="F4F1EA"/>
                </a:solidFill>
              </a:rPr>
              <a:t>25,186</a:t>
            </a:r>
          </a:p>
        </p:txBody>
      </p:sp>
      <p:sp>
        <p:nvSpPr>
          <p:cNvPr id="8" name="cover-stat-label-0">
            <a:extLst xmlns:a="http://schemas.openxmlformats.org/drawingml/2006/main">
              <a:ext uri="{FF2B5EF4-FFF2-40B4-BE49-F238E27FC236}">
                <a16:creationId xmlns:a16="http://schemas.microsoft.com/office/drawing/2014/main" id="{7CB1BAE4-22D7-455E-B86C-7158B48A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8961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9A6A0"/>
                </a:solidFill>
              </a:defRPr>
            </a:pPr>
            <a:r>
              <a:rPr sz="1650" b="1" i="0">
                <a:solidFill>
                  <a:srgbClr val="A9A6A0"/>
                </a:solidFill>
              </a:rPr>
              <a:t>TRACKED WORKOUTS</a:t>
            </a:r>
          </a:p>
        </p:txBody>
      </p:sp>
      <p:sp>
        <p:nvSpPr>
          <p:cNvPr id="9" name="cover-stat-1">
            <a:extLst xmlns:a="http://schemas.openxmlformats.org/drawingml/2006/main">
              <a:ext uri="{FF2B5EF4-FFF2-40B4-BE49-F238E27FC236}">
                <a16:creationId xmlns:a16="http://schemas.microsoft.com/office/drawing/2014/main" id="{8A26E29D-243B-41E5-845D-603D15DB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0"/>
            <a:ext cx="428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F4F1EA"/>
                </a:solidFill>
              </a:defRPr>
            </a:pPr>
            <a:r>
              <a:rPr sz="5850" b="1" i="0">
                <a:solidFill>
                  <a:srgbClr val="F4F1EA"/>
                </a:solidFill>
              </a:rPr>
              <a:t>539,694</a:t>
            </a:r>
          </a:p>
        </p:txBody>
      </p:sp>
      <p:sp>
        <p:nvSpPr>
          <p:cNvPr id="10" name="cover-stat-label-1">
            <a:extLst xmlns:a="http://schemas.openxmlformats.org/drawingml/2006/main">
              <a:ext uri="{FF2B5EF4-FFF2-40B4-BE49-F238E27FC236}">
                <a16:creationId xmlns:a16="http://schemas.microsoft.com/office/drawing/2014/main" id="{3FEAFFFF-57C0-4EC2-8908-C5EAC942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4201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9A6A0"/>
                </a:solidFill>
              </a:defRPr>
            </a:pPr>
            <a:r>
              <a:rPr sz="1650" b="1" i="0">
                <a:solidFill>
                  <a:srgbClr val="A9A6A0"/>
                </a:solidFill>
              </a:rPr>
              <a:t>RECORDED EXERCISE RESULTS</a:t>
            </a:r>
          </a:p>
        </p:txBody>
      </p:sp>
      <p:sp>
        <p:nvSpPr>
          <p:cNvPr id="11" name="cover-stat-2">
            <a:extLst xmlns:a="http://schemas.openxmlformats.org/drawingml/2006/main">
              <a:ext uri="{FF2B5EF4-FFF2-40B4-BE49-F238E27FC236}">
                <a16:creationId xmlns:a16="http://schemas.microsoft.com/office/drawing/2014/main" id="{1F01B602-DA93-4F8B-8748-28700CB1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428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F4F1EA"/>
                </a:solidFill>
              </a:defRPr>
            </a:pPr>
            <a:r>
              <a:rPr sz="5850" b="1" i="0">
                <a:solidFill>
                  <a:srgbClr val="F4F1EA"/>
                </a:solidFill>
              </a:rPr>
              <a:t>484</a:t>
            </a:r>
          </a:p>
        </p:txBody>
      </p:sp>
      <p:sp>
        <p:nvSpPr>
          <p:cNvPr id="12" name="cover-stat-label-2">
            <a:extLst xmlns:a="http://schemas.openxmlformats.org/drawingml/2006/main">
              <a:ext uri="{FF2B5EF4-FFF2-40B4-BE49-F238E27FC236}">
                <a16:creationId xmlns:a16="http://schemas.microsoft.com/office/drawing/2014/main" id="{42BE68C1-9F2A-4FDC-BC44-7CC86B8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9441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9A6A0"/>
                </a:solidFill>
              </a:defRPr>
            </a:pPr>
            <a:r>
              <a:rPr sz="1650" b="1" i="0">
                <a:solidFill>
                  <a:srgbClr val="A9A6A0"/>
                </a:solidFill>
              </a:rPr>
              <a:t>WOMEN WITH COMPLETED TRAINING HISTORIES</a:t>
            </a:r>
          </a:p>
        </p:txBody>
      </p:sp>
      <p:sp>
        <p:nvSpPr>
          <p:cNvPr id="13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CCE3FBE7-C11B-4C9D-9EED-3D9694F4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6807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4F1EA"/>
                </a:solidFill>
              </a:defRPr>
            </a:pPr>
            <a:r>
              <a:rPr sz="1950" b="1" i="0">
                <a:solidFill>
                  <a:srgbClr val="F4F1EA"/>
                </a:solidFill>
              </a:rPr>
              <a:t>What changed after six months of structured strength training?</a:t>
            </a:r>
          </a:p>
        </p:txBody>
      </p:sp>
      <p:sp>
        <p:nvSpPr>
          <p:cNvPr id="14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C4E54F41-4F1D-4BFA-9B3B-6E73C196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87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4B51FC14-2F9D-421A-96CD-A1302BC3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9A6A0"/>
                </a:solidFill>
              </a:defRPr>
            </a:pPr>
            <a:r>
              <a:rPr sz="1275" b="1" i="0">
                <a:solidFill>
                  <a:srgbClr val="A9A6A0"/>
                </a:solidFill>
              </a:rPr>
              <a:t>THE EVOLVED  |  WOMEN'S STRENGTH REPORT 2026</a:t>
            </a:r>
          </a:p>
        </p:txBody>
      </p:sp>
      <p:sp>
        <p:nvSpPr>
          <p:cNvPr id="16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DBC2A616-5F03-4A07-83ED-437093DF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982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9A6A0"/>
                </a:solidFill>
              </a:defRPr>
            </a:pPr>
            <a:r>
              <a:rPr sz="1425" b="1" i="0">
                <a:solidFill>
                  <a:srgbClr val="A9A6A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676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The question">
            <a:extLst xmlns:a="http://schemas.openxmlformats.org/drawingml/2006/main">
              <a:ext uri="{FF2B5EF4-FFF2-40B4-BE49-F238E27FC236}">
                <a16:creationId xmlns:a16="http://schemas.microsoft.com/office/drawing/2014/main" id="{ECF03477-FF08-4B11-A38E-E08A51BA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85B2"/>
                </a:solidFill>
              </a:defRPr>
            </a:pPr>
            <a:r>
              <a:rPr sz="1500" b="1" i="0">
                <a:solidFill>
                  <a:srgbClr val="A485B2"/>
                </a:solidFill>
              </a:rPr>
              <a:t>THE QUESTION</a:t>
            </a:r>
          </a:p>
        </p:txBody>
      </p:sp>
      <p:sp>
        <p:nvSpPr>
          <p:cNvPr id="2" name="question-head">
            <a:extLst xmlns:a="http://schemas.openxmlformats.org/drawingml/2006/main">
              <a:ext uri="{FF2B5EF4-FFF2-40B4-BE49-F238E27FC236}">
                <a16:creationId xmlns:a16="http://schemas.microsoft.com/office/drawing/2014/main" id="{4228CFFD-336F-47E8-A595-B1116E57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95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 i="0">
                <a:solidFill>
                  <a:srgbClr val="F4F1EA"/>
                </a:solidFill>
              </a:defRPr>
            </a:pPr>
            <a:r>
              <a:rPr sz="5550" b="1" i="0">
                <a:solidFill>
                  <a:srgbClr val="F4F1EA"/>
                </a:solidFill>
              </a:rPr>
              <a:t>Most gyms show</a:t>
            </a:r>
          </a:p>
          <a:p xmlns:a="http://schemas.openxmlformats.org/drawingml/2006/main">
            <a:pPr algn="l">
              <a:defRPr sz="5550" b="1" i="0">
                <a:solidFill>
                  <a:srgbClr val="F4F1EA"/>
                </a:solidFill>
              </a:defRPr>
            </a:pPr>
            <a:r>
              <a:rPr sz="5550" b="1" i="0">
                <a:solidFill>
                  <a:srgbClr val="F4F1EA"/>
                </a:solidFill>
              </a:rPr>
              <a:t>before &amp; after photos.</a:t>
            </a:r>
          </a:p>
        </p:txBody>
      </p:sp>
      <p:sp>
        <p:nvSpPr>
          <p:cNvPr id="3" name="question-sub">
            <a:extLst xmlns:a="http://schemas.openxmlformats.org/drawingml/2006/main">
              <a:ext uri="{FF2B5EF4-FFF2-40B4-BE49-F238E27FC236}">
                <a16:creationId xmlns:a16="http://schemas.microsoft.com/office/drawing/2014/main" id="{AB975332-0958-4C25-BF61-A53F72E9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A485B2"/>
                </a:solidFill>
              </a:defRPr>
            </a:pPr>
            <a:r>
              <a:rPr sz="2100" b="1" i="0">
                <a:solidFill>
                  <a:srgbClr val="A485B2"/>
                </a:solidFill>
              </a:rPr>
              <a:t>We wanted to know:</a:t>
            </a:r>
          </a:p>
        </p:txBody>
      </p:sp>
      <p:sp>
        <p:nvSpPr>
          <p:cNvPr id="4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709CB778-AEAF-4D5A-8953-A81402CE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857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4F1EA"/>
                </a:solidFill>
              </a:defRPr>
            </a:pPr>
            <a:r>
              <a:rPr sz="4200" b="1" i="0">
                <a:solidFill>
                  <a:srgbClr val="F4F1EA"/>
                </a:solidFill>
              </a:rPr>
              <a:t>What happens in the training logs when women consistently strength train?</a:t>
            </a:r>
          </a:p>
        </p:txBody>
      </p:sp>
      <p:sp>
        <p:nvSpPr>
          <p:cNvPr id="5" name="timeline">
            <a:extLst xmlns:a="http://schemas.openxmlformats.org/drawingml/2006/main">
              <a:ext uri="{FF2B5EF4-FFF2-40B4-BE49-F238E27FC236}">
                <a16:creationId xmlns:a16="http://schemas.microsoft.com/office/drawing/2014/main" id="{80E9AFC1-4777-416F-9A12-12C6902A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858250"/>
            <a:ext cx="895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ck-0">
            <a:extLst xmlns:a="http://schemas.openxmlformats.org/drawingml/2006/main">
              <a:ext uri="{FF2B5EF4-FFF2-40B4-BE49-F238E27FC236}">
                <a16:creationId xmlns:a16="http://schemas.microsoft.com/office/drawing/2014/main" id="{1DC1CC85-D703-4B28-A2AE-14FA4C7E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1537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ck-1">
            <a:extLst xmlns:a="http://schemas.openxmlformats.org/drawingml/2006/main">
              <a:ext uri="{FF2B5EF4-FFF2-40B4-BE49-F238E27FC236}">
                <a16:creationId xmlns:a16="http://schemas.microsoft.com/office/drawing/2014/main" id="{0A49A12E-0D27-4DB4-8D94-7AC57E60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871537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ck-2">
            <a:extLst xmlns:a="http://schemas.openxmlformats.org/drawingml/2006/main">
              <a:ext uri="{FF2B5EF4-FFF2-40B4-BE49-F238E27FC236}">
                <a16:creationId xmlns:a16="http://schemas.microsoft.com/office/drawing/2014/main" id="{172EE0D2-F4C5-4775-89C7-C0208FC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871537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ck-3">
            <a:extLst xmlns:a="http://schemas.openxmlformats.org/drawingml/2006/main">
              <a:ext uri="{FF2B5EF4-FFF2-40B4-BE49-F238E27FC236}">
                <a16:creationId xmlns:a16="http://schemas.microsoft.com/office/drawing/2014/main" id="{FDE3C506-6E01-4697-A4BC-0347D540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8715375"/>
            <a:ext cx="28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8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meline-start">
            <a:extLst xmlns:a="http://schemas.openxmlformats.org/drawingml/2006/main">
              <a:ext uri="{FF2B5EF4-FFF2-40B4-BE49-F238E27FC236}">
                <a16:creationId xmlns:a16="http://schemas.microsoft.com/office/drawing/2014/main" id="{48C3854C-DF75-48B7-A15F-F3F53D34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9A6A0"/>
                </a:solidFill>
              </a:defRPr>
            </a:pPr>
            <a:r>
              <a:rPr sz="1425" b="1" i="0">
                <a:solidFill>
                  <a:srgbClr val="A9A6A0"/>
                </a:solidFill>
              </a:rPr>
              <a:t>BASELINE</a:t>
            </a:r>
          </a:p>
        </p:txBody>
      </p:sp>
      <p:sp>
        <p:nvSpPr>
          <p:cNvPr id="11" name="timeline-middle">
            <a:extLst xmlns:a="http://schemas.openxmlformats.org/drawingml/2006/main">
              <a:ext uri="{FF2B5EF4-FFF2-40B4-BE49-F238E27FC236}">
                <a16:creationId xmlns:a16="http://schemas.microsoft.com/office/drawing/2014/main" id="{8FC12220-57F1-4425-8829-5522D42B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9144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9A6A0"/>
                </a:solidFill>
              </a:defRPr>
            </a:pPr>
            <a:r>
              <a:rPr sz="1425" b="1" i="0">
                <a:solidFill>
                  <a:srgbClr val="A9A6A0"/>
                </a:solidFill>
              </a:rPr>
              <a:t>TRACKED TRAINING</a:t>
            </a:r>
          </a:p>
        </p:txBody>
      </p:sp>
      <p:sp>
        <p:nvSpPr>
          <p:cNvPr id="12" name="timeline-end">
            <a:extLst xmlns:a="http://schemas.openxmlformats.org/drawingml/2006/main">
              <a:ext uri="{FF2B5EF4-FFF2-40B4-BE49-F238E27FC236}">
                <a16:creationId xmlns:a16="http://schemas.microsoft.com/office/drawing/2014/main" id="{EB8705C5-AFED-483F-829E-2FD49499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144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485B2"/>
                </a:solidFill>
              </a:defRPr>
            </a:pPr>
            <a:r>
              <a:rPr sz="1425" b="1" i="0">
                <a:solidFill>
                  <a:srgbClr val="A485B2"/>
                </a:solidFill>
              </a:rPr>
              <a:t>6 MONTHS</a:t>
            </a:r>
          </a:p>
        </p:txBody>
      </p:sp>
      <p:sp>
        <p:nvSpPr>
          <p:cNvPr id="13" name="audit-label">
            <a:extLst xmlns:a="http://schemas.openxmlformats.org/drawingml/2006/main">
              <a:ext uri="{FF2B5EF4-FFF2-40B4-BE49-F238E27FC236}">
                <a16:creationId xmlns:a16="http://schemas.microsoft.com/office/drawing/2014/main" id="{6EA09EFF-905E-445C-8136-CC04B389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F1EA"/>
                </a:solidFill>
              </a:defRPr>
            </a:pPr>
            <a:r>
              <a:rPr sz="1575" b="1" i="0">
                <a:solidFill>
                  <a:srgbClr val="F4F1EA"/>
                </a:solidFill>
              </a:rPr>
              <a:t>RETROSPECTIVE TRAINING-LOG AUDIT</a:t>
            </a:r>
          </a:p>
        </p:txBody>
      </p:sp>
      <p:sp>
        <p:nvSpPr>
          <p:cNvPr id="1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8E86E55-B073-468C-8DA7-F1902468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87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0E2B5B8D-AED5-448E-A43C-F6D7533B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9A6A0"/>
                </a:solidFill>
              </a:defRPr>
            </a:pPr>
            <a:r>
              <a:rPr sz="1275" b="1" i="0">
                <a:solidFill>
                  <a:srgbClr val="A9A6A0"/>
                </a:solidFill>
              </a:rPr>
              <a:t>THE EVOLVED  |  WOMEN'S STRENGTH REPORT 2026</a:t>
            </a:r>
          </a:p>
        </p:txBody>
      </p:sp>
      <p:sp>
        <p:nvSpPr>
          <p:cNvPr id="1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AC3927DC-4A67-4817-A299-4A05168C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982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9A6A0"/>
                </a:solidFill>
              </a:defRPr>
            </a:pPr>
            <a:r>
              <a:rPr sz="1425" b="1" i="0">
                <a:solidFill>
                  <a:srgbClr val="A9A6A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8529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Six-month find">
            <a:extLst xmlns:a="http://schemas.openxmlformats.org/drawingml/2006/main">
              <a:ext uri="{FF2B5EF4-FFF2-40B4-BE49-F238E27FC236}">
                <a16:creationId xmlns:a16="http://schemas.microsoft.com/office/drawing/2014/main" id="{08993188-4CF3-4E2D-897A-F5198945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85B2"/>
                </a:solidFill>
              </a:defRPr>
            </a:pPr>
            <a:r>
              <a:rPr sz="1500" b="1" i="0">
                <a:solidFill>
                  <a:srgbClr val="A485B2"/>
                </a:solidFill>
              </a:rPr>
              <a:t>SIX-MONTH FINDING  |  N = 143</a:t>
            </a:r>
          </a:p>
        </p:txBody>
      </p:sp>
      <p:sp>
        <p:nvSpPr>
          <p:cNvPr id="2" name="movement-3">
            <a:extLst xmlns:a="http://schemas.openxmlformats.org/drawingml/2006/main">
              <a:ext uri="{FF2B5EF4-FFF2-40B4-BE49-F238E27FC236}">
                <a16:creationId xmlns:a16="http://schemas.microsoft.com/office/drawing/2014/main" id="{CCB510D1-77DA-4EBC-A680-E01C3434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F1EA"/>
                </a:solidFill>
              </a:defRPr>
            </a:pPr>
            <a:r>
              <a:rPr sz="4350" b="1" i="0">
                <a:solidFill>
                  <a:srgbClr val="F4F1EA"/>
                </a:solidFill>
              </a:rPr>
              <a:t>BENCH PRESS</a:t>
            </a:r>
          </a:p>
        </p:txBody>
      </p:sp>
      <p:sp>
        <p:nvSpPr>
          <p:cNvPr id="3" name="movement-pct-3">
            <a:extLst xmlns:a="http://schemas.openxmlformats.org/drawingml/2006/main">
              <a:ext uri="{FF2B5EF4-FFF2-40B4-BE49-F238E27FC236}">
                <a16:creationId xmlns:a16="http://schemas.microsoft.com/office/drawing/2014/main" id="{9CAA92DC-9008-493E-ABFB-AC5163AC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895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350" b="1" i="0">
                <a:solidFill>
                  <a:srgbClr val="A485B2"/>
                </a:solidFill>
              </a:defRPr>
            </a:pPr>
            <a:r>
              <a:rPr sz="13350" b="1" i="0">
                <a:solidFill>
                  <a:srgbClr val="A485B2"/>
                </a:solidFill>
              </a:rPr>
              <a:t>+14.3%</a:t>
            </a:r>
          </a:p>
        </p:txBody>
      </p:sp>
      <p:sp>
        <p:nvSpPr>
          <p:cNvPr id="4" name="movement-label-3">
            <a:extLst xmlns:a="http://schemas.openxmlformats.org/drawingml/2006/main">
              <a:ext uri="{FF2B5EF4-FFF2-40B4-BE49-F238E27FC236}">
                <a16:creationId xmlns:a16="http://schemas.microsoft.com/office/drawing/2014/main" id="{739749EC-4FBE-4FC6-AF68-2AEB3078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9A6A0"/>
                </a:solidFill>
              </a:defRPr>
            </a:pPr>
            <a:r>
              <a:rPr sz="1800" b="1" i="0">
                <a:solidFill>
                  <a:srgbClr val="A9A6A0"/>
                </a:solidFill>
              </a:rPr>
              <a:t>MEDIAN ESTIMATED STRENGTH CHANGE</a:t>
            </a:r>
          </a:p>
        </p:txBody>
      </p:sp>
      <p:sp>
        <p:nvSpPr>
          <p:cNvPr id="5" name="movement-time-3">
            <a:extLst xmlns:a="http://schemas.openxmlformats.org/drawingml/2006/main">
              <a:ext uri="{FF2B5EF4-FFF2-40B4-BE49-F238E27FC236}">
                <a16:creationId xmlns:a16="http://schemas.microsoft.com/office/drawing/2014/main" id="{F806DCA2-8C88-4E7C-9DE5-DD4B4B12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1EA"/>
                </a:solidFill>
              </a:defRPr>
            </a:pPr>
            <a:r>
              <a:rPr sz="1800" b="1" i="0">
                <a:solidFill>
                  <a:srgbClr val="F4F1EA"/>
                </a:solidFill>
              </a:rPr>
              <a:t>AFTER SIX MONTHS</a:t>
            </a:r>
          </a:p>
        </p:txBody>
      </p:sp>
      <p:sp>
        <p:nvSpPr>
          <p:cNvPr id="6" name="movement-note-3">
            <a:extLst xmlns:a="http://schemas.openxmlformats.org/drawingml/2006/main">
              <a:ext uri="{FF2B5EF4-FFF2-40B4-BE49-F238E27FC236}">
                <a16:creationId xmlns:a16="http://schemas.microsoft.com/office/drawing/2014/main" id="{061F04F4-6A53-4113-97C7-6F87761F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10375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4F1EA"/>
                </a:solidFill>
              </a:defRPr>
            </a:pPr>
            <a:r>
              <a:rPr sz="2100" b="0" i="0">
                <a:solidFill>
                  <a:srgbClr val="F4F1EA"/>
                </a:solidFill>
              </a:rPr>
              <a:t>143 women with comparable six-month records.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8334375"/>
          <a:ext xmlns:a="http://schemas.openxmlformats.org/drawingml/2006/main" cx="8953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440840abd7411f"/>
          </a:graphicData>
        </a:graphic>
      </p:graphicFrame>
      <p:sp>
        <p:nvSpPr>
          <p:cNvPr id="8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01F4B032-C649-4A50-A978-E1245920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87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4A304E48-5CD8-447F-8704-485ED89B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9A6A0"/>
                </a:solidFill>
              </a:defRPr>
            </a:pPr>
            <a:r>
              <a:rPr sz="1275" b="1" i="0">
                <a:solidFill>
                  <a:srgbClr val="A9A6A0"/>
                </a:solidFill>
              </a:rPr>
              <a:t>THE EVOLVED  |  WOMEN'S STRENGTH REPORT 2026</a:t>
            </a:r>
          </a:p>
        </p:txBody>
      </p:sp>
      <p:sp>
        <p:nvSpPr>
          <p:cNvPr id="1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24D8836E-5867-43DF-A99B-0833AD9E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982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9A6A0"/>
                </a:solidFill>
              </a:defRPr>
            </a:pPr>
            <a:r>
              <a:rPr sz="1425" b="1" i="0">
                <a:solidFill>
                  <a:srgbClr val="A9A6A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242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Six-month find">
            <a:extLst xmlns:a="http://schemas.openxmlformats.org/drawingml/2006/main">
              <a:ext uri="{FF2B5EF4-FFF2-40B4-BE49-F238E27FC236}">
                <a16:creationId xmlns:a16="http://schemas.microsoft.com/office/drawing/2014/main" id="{B94A91CC-FD2F-477C-A078-A4E0F29B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85B2"/>
                </a:solidFill>
              </a:defRPr>
            </a:pPr>
            <a:r>
              <a:rPr sz="1500" b="1" i="0">
                <a:solidFill>
                  <a:srgbClr val="A485B2"/>
                </a:solidFill>
              </a:rPr>
              <a:t>SIX-MONTH FINDING  |  N = 76</a:t>
            </a:r>
          </a:p>
        </p:txBody>
      </p:sp>
      <p:sp>
        <p:nvSpPr>
          <p:cNvPr id="2" name="movement-4">
            <a:extLst xmlns:a="http://schemas.openxmlformats.org/drawingml/2006/main">
              <a:ext uri="{FF2B5EF4-FFF2-40B4-BE49-F238E27FC236}">
                <a16:creationId xmlns:a16="http://schemas.microsoft.com/office/drawing/2014/main" id="{89005992-AC65-489F-848E-001DA7B8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F1EA"/>
                </a:solidFill>
              </a:defRPr>
            </a:pPr>
            <a:r>
              <a:rPr sz="4350" b="1" i="0">
                <a:solidFill>
                  <a:srgbClr val="F4F1EA"/>
                </a:solidFill>
              </a:rPr>
              <a:t>DEADLIFT</a:t>
            </a:r>
          </a:p>
        </p:txBody>
      </p:sp>
      <p:sp>
        <p:nvSpPr>
          <p:cNvPr id="3" name="movement-pct-4">
            <a:extLst xmlns:a="http://schemas.openxmlformats.org/drawingml/2006/main">
              <a:ext uri="{FF2B5EF4-FFF2-40B4-BE49-F238E27FC236}">
                <a16:creationId xmlns:a16="http://schemas.microsoft.com/office/drawing/2014/main" id="{A3DC2C70-D608-4766-9E7D-59DE41DE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895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350" b="1" i="0">
                <a:solidFill>
                  <a:srgbClr val="A485B2"/>
                </a:solidFill>
              </a:defRPr>
            </a:pPr>
            <a:r>
              <a:rPr sz="13350" b="1" i="0">
                <a:solidFill>
                  <a:srgbClr val="A485B2"/>
                </a:solidFill>
              </a:rPr>
              <a:t>+14.2%</a:t>
            </a:r>
          </a:p>
        </p:txBody>
      </p:sp>
      <p:sp>
        <p:nvSpPr>
          <p:cNvPr id="4" name="movement-label-4">
            <a:extLst xmlns:a="http://schemas.openxmlformats.org/drawingml/2006/main">
              <a:ext uri="{FF2B5EF4-FFF2-40B4-BE49-F238E27FC236}">
                <a16:creationId xmlns:a16="http://schemas.microsoft.com/office/drawing/2014/main" id="{988EA691-3B3F-4E6A-9117-15ADFB01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9A6A0"/>
                </a:solidFill>
              </a:defRPr>
            </a:pPr>
            <a:r>
              <a:rPr sz="1800" b="1" i="0">
                <a:solidFill>
                  <a:srgbClr val="A9A6A0"/>
                </a:solidFill>
              </a:rPr>
              <a:t>MEDIAN ESTIMATED STRENGTH CHANGE</a:t>
            </a:r>
          </a:p>
        </p:txBody>
      </p:sp>
      <p:sp>
        <p:nvSpPr>
          <p:cNvPr id="5" name="movement-time-4">
            <a:extLst xmlns:a="http://schemas.openxmlformats.org/drawingml/2006/main">
              <a:ext uri="{FF2B5EF4-FFF2-40B4-BE49-F238E27FC236}">
                <a16:creationId xmlns:a16="http://schemas.microsoft.com/office/drawing/2014/main" id="{B11D81F4-4223-48DE-A0B6-F19CD812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1EA"/>
                </a:solidFill>
              </a:defRPr>
            </a:pPr>
            <a:r>
              <a:rPr sz="1800" b="1" i="0">
                <a:solidFill>
                  <a:srgbClr val="F4F1EA"/>
                </a:solidFill>
              </a:rPr>
              <a:t>AFTER SIX MONTHS</a:t>
            </a:r>
          </a:p>
        </p:txBody>
      </p:sp>
      <p:sp>
        <p:nvSpPr>
          <p:cNvPr id="6" name="movement-note-4">
            <a:extLst xmlns:a="http://schemas.openxmlformats.org/drawingml/2006/main">
              <a:ext uri="{FF2B5EF4-FFF2-40B4-BE49-F238E27FC236}">
                <a16:creationId xmlns:a16="http://schemas.microsoft.com/office/drawing/2014/main" id="{117E6744-B04A-4EAD-AB0A-498F4919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10375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4F1EA"/>
                </a:solidFill>
              </a:defRPr>
            </a:pPr>
            <a:r>
              <a:rPr sz="2100" b="0" i="0">
                <a:solidFill>
                  <a:srgbClr val="F4F1EA"/>
                </a:solidFill>
              </a:rPr>
              <a:t>76 women with paired six-month measurements.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8334375"/>
          <a:ext xmlns:a="http://schemas.openxmlformats.org/drawingml/2006/main" cx="8953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53364708f94e01"/>
          </a:graphicData>
        </a:graphic>
      </p:graphicFrame>
      <p:sp>
        <p:nvSpPr>
          <p:cNvPr id="8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9C8AEE0A-A728-4970-9AF9-A172F4F1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87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CBA1D048-DB30-471F-B377-5753DD03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9A6A0"/>
                </a:solidFill>
              </a:defRPr>
            </a:pPr>
            <a:r>
              <a:rPr sz="1275" b="1" i="0">
                <a:solidFill>
                  <a:srgbClr val="A9A6A0"/>
                </a:solidFill>
              </a:rPr>
              <a:t>THE EVOLVED  |  WOMEN'S STRENGTH REPORT 2026</a:t>
            </a:r>
          </a:p>
        </p:txBody>
      </p:sp>
      <p:sp>
        <p:nvSpPr>
          <p:cNvPr id="10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8D1EFC44-1B08-47F9-A1D0-54EADED8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982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9A6A0"/>
                </a:solidFill>
              </a:defRPr>
            </a:pPr>
            <a:r>
              <a:rPr sz="1425" b="1" i="0">
                <a:solidFill>
                  <a:srgbClr val="A9A6A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51604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Six-month find">
            <a:extLst xmlns:a="http://schemas.openxmlformats.org/drawingml/2006/main">
              <a:ext uri="{FF2B5EF4-FFF2-40B4-BE49-F238E27FC236}">
                <a16:creationId xmlns:a16="http://schemas.microsoft.com/office/drawing/2014/main" id="{F28F7DAE-BB25-481A-B0FE-7B0C6F5F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85B2"/>
                </a:solidFill>
              </a:defRPr>
            </a:pPr>
            <a:r>
              <a:rPr sz="1500" b="1" i="0">
                <a:solidFill>
                  <a:srgbClr val="A485B2"/>
                </a:solidFill>
              </a:rPr>
              <a:t>SIX-MONTH FINDING  |  N = 70</a:t>
            </a:r>
          </a:p>
        </p:txBody>
      </p:sp>
      <p:sp>
        <p:nvSpPr>
          <p:cNvPr id="2" name="movement-5">
            <a:extLst xmlns:a="http://schemas.openxmlformats.org/drawingml/2006/main">
              <a:ext uri="{FF2B5EF4-FFF2-40B4-BE49-F238E27FC236}">
                <a16:creationId xmlns:a16="http://schemas.microsoft.com/office/drawing/2014/main" id="{E374534A-C979-4D04-9B3C-631622DE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4F1EA"/>
                </a:solidFill>
              </a:defRPr>
            </a:pPr>
            <a:r>
              <a:rPr sz="4350" b="1" i="0">
                <a:solidFill>
                  <a:srgbClr val="F4F1EA"/>
                </a:solidFill>
              </a:rPr>
              <a:t>ROMANIAN DEADLIFT</a:t>
            </a:r>
          </a:p>
        </p:txBody>
      </p:sp>
      <p:sp>
        <p:nvSpPr>
          <p:cNvPr id="3" name="movement-pct-5">
            <a:extLst xmlns:a="http://schemas.openxmlformats.org/drawingml/2006/main">
              <a:ext uri="{FF2B5EF4-FFF2-40B4-BE49-F238E27FC236}">
                <a16:creationId xmlns:a16="http://schemas.microsoft.com/office/drawing/2014/main" id="{ED206195-A955-4B62-8D08-04383BAD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895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350" b="1" i="0">
                <a:solidFill>
                  <a:srgbClr val="F4F1EA"/>
                </a:solidFill>
              </a:defRPr>
            </a:pPr>
            <a:r>
              <a:rPr sz="13350" b="1" i="0">
                <a:solidFill>
                  <a:srgbClr val="F4F1EA"/>
                </a:solidFill>
              </a:rPr>
              <a:t>+46.0%</a:t>
            </a:r>
          </a:p>
        </p:txBody>
      </p:sp>
      <p:sp>
        <p:nvSpPr>
          <p:cNvPr id="4" name="rdl-accent">
            <a:extLst xmlns:a="http://schemas.openxmlformats.org/drawingml/2006/main">
              <a:ext uri="{FF2B5EF4-FFF2-40B4-BE49-F238E27FC236}">
                <a16:creationId xmlns:a16="http://schemas.microsoft.com/office/drawing/2014/main" id="{66D3292E-A9B3-431C-90A4-67922B93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8953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8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ovement-label-5">
            <a:extLst xmlns:a="http://schemas.openxmlformats.org/drawingml/2006/main">
              <a:ext uri="{FF2B5EF4-FFF2-40B4-BE49-F238E27FC236}">
                <a16:creationId xmlns:a16="http://schemas.microsoft.com/office/drawing/2014/main" id="{A5A84BE2-EDB3-4C22-91C2-389C1043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9A6A0"/>
                </a:solidFill>
              </a:defRPr>
            </a:pPr>
            <a:r>
              <a:rPr sz="1800" b="1" i="0">
                <a:solidFill>
                  <a:srgbClr val="A9A6A0"/>
                </a:solidFill>
              </a:rPr>
              <a:t>MEDIAN ESTIMATED STRENGTH CHANGE</a:t>
            </a:r>
          </a:p>
        </p:txBody>
      </p:sp>
      <p:sp>
        <p:nvSpPr>
          <p:cNvPr id="6" name="movement-time-5">
            <a:extLst xmlns:a="http://schemas.openxmlformats.org/drawingml/2006/main">
              <a:ext uri="{FF2B5EF4-FFF2-40B4-BE49-F238E27FC236}">
                <a16:creationId xmlns:a16="http://schemas.microsoft.com/office/drawing/2014/main" id="{84C91D20-CC5D-4E34-A37B-28A728B5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1EA"/>
                </a:solidFill>
              </a:defRPr>
            </a:pPr>
            <a:r>
              <a:rPr sz="1800" b="1" i="0">
                <a:solidFill>
                  <a:srgbClr val="F4F1EA"/>
                </a:solidFill>
              </a:rPr>
              <a:t>AFTER SIX MONTHS</a:t>
            </a:r>
          </a:p>
        </p:txBody>
      </p:sp>
      <p:sp>
        <p:nvSpPr>
          <p:cNvPr id="7" name="movement-note-5">
            <a:extLst xmlns:a="http://schemas.openxmlformats.org/drawingml/2006/main">
              <a:ext uri="{FF2B5EF4-FFF2-40B4-BE49-F238E27FC236}">
                <a16:creationId xmlns:a16="http://schemas.microsoft.com/office/drawing/2014/main" id="{9932A3CC-2498-4920-867A-2F573CBD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10375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4F1EA"/>
                </a:solidFill>
              </a:defRPr>
            </a:pPr>
            <a:r>
              <a:rPr sz="2100" b="0" i="0">
                <a:solidFill>
                  <a:srgbClr val="F4F1EA"/>
                </a:solidFill>
              </a:rPr>
              <a:t>70 women with comparable six-month records.</a:t>
            </a:r>
          </a:p>
        </p:txBody>
      </p:sp>
      <p:sp>
        <p:nvSpPr>
          <p:cNvPr id="8" name="movement-caveat-5">
            <a:extLst xmlns:a="http://schemas.openxmlformats.org/drawingml/2006/main">
              <a:ext uri="{FF2B5EF4-FFF2-40B4-BE49-F238E27FC236}">
                <a16:creationId xmlns:a16="http://schemas.microsoft.com/office/drawing/2014/main" id="{08F56BDC-86F2-44A9-A829-B4CF7BD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A9A6A0"/>
                </a:solidFill>
              </a:defRPr>
            </a:pPr>
            <a:r>
              <a:rPr sz="1425" b="0" i="1">
                <a:solidFill>
                  <a:srgbClr val="A9A6A0"/>
                </a:solidFill>
              </a:rPr>
              <a:t>Large relative gain; lower starting loads and programming progression may contribute.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66750" y="8334375"/>
          <a:ext xmlns:a="http://schemas.openxmlformats.org/drawingml/2006/main" cx="8953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207004bfe04350"/>
          </a:graphicData>
        </a:graphic>
      </p:graphicFrame>
      <p:sp>
        <p:nvSpPr>
          <p:cNvPr id="10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C032883E-EA22-4D64-BCDB-2BA9E193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87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42A1B430-ADFF-4382-8535-E7F5927D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9A6A0"/>
                </a:solidFill>
              </a:defRPr>
            </a:pPr>
            <a:r>
              <a:rPr sz="1275" b="1" i="0">
                <a:solidFill>
                  <a:srgbClr val="A9A6A0"/>
                </a:solidFill>
              </a:rPr>
              <a:t>THE EVOLVED  |  WOMEN'S STRENGTH REPORT 2026</a:t>
            </a:r>
          </a:p>
        </p:txBody>
      </p:sp>
      <p:sp>
        <p:nvSpPr>
          <p:cNvPr id="12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B53F1F1E-FACB-471B-9C15-39FE956F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982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9A6A0"/>
                </a:solidFill>
              </a:defRPr>
            </a:pPr>
            <a:r>
              <a:rPr sz="1425" b="1" i="0">
                <a:solidFill>
                  <a:srgbClr val="A9A6A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24611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Six-month find">
            <a:extLst xmlns:a="http://schemas.openxmlformats.org/drawingml/2006/main">
              <a:ext uri="{FF2B5EF4-FFF2-40B4-BE49-F238E27FC236}">
                <a16:creationId xmlns:a16="http://schemas.microsoft.com/office/drawing/2014/main" id="{D7B0A938-E95F-4097-9E09-8C6E300F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85B2"/>
                </a:solidFill>
              </a:defRPr>
            </a:pPr>
            <a:r>
              <a:rPr sz="1500" b="1" i="0">
                <a:solidFill>
                  <a:srgbClr val="A485B2"/>
                </a:solidFill>
              </a:rPr>
              <a:t>SIX-MONTH FINDING  |  N = 129</a:t>
            </a:r>
          </a:p>
        </p:txBody>
      </p:sp>
      <p:sp>
        <p:nvSpPr>
          <p:cNvPr id="2" name="movement-6">
            <a:extLst xmlns:a="http://schemas.openxmlformats.org/drawingml/2006/main">
              <a:ext uri="{FF2B5EF4-FFF2-40B4-BE49-F238E27FC236}">
                <a16:creationId xmlns:a16="http://schemas.microsoft.com/office/drawing/2014/main" id="{7F7EE5AE-5E2F-44CB-8277-A530577F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 i="0">
                <a:solidFill>
                  <a:srgbClr val="F4F1EA"/>
                </a:solidFill>
              </a:defRPr>
            </a:pPr>
            <a:r>
              <a:rPr sz="3525" b="1" i="0">
                <a:solidFill>
                  <a:srgbClr val="F4F1EA"/>
                </a:solidFill>
              </a:rPr>
              <a:t>CANONICAL NEXUS SQUAT</a:t>
            </a:r>
          </a:p>
        </p:txBody>
      </p:sp>
      <p:sp>
        <p:nvSpPr>
          <p:cNvPr id="3" name="movement-pct-6">
            <a:extLst xmlns:a="http://schemas.openxmlformats.org/drawingml/2006/main">
              <a:ext uri="{FF2B5EF4-FFF2-40B4-BE49-F238E27FC236}">
                <a16:creationId xmlns:a16="http://schemas.microsoft.com/office/drawing/2014/main" id="{356898FB-4BD3-41F7-80FA-5742C9AA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895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350" b="1" i="0">
                <a:solidFill>
                  <a:srgbClr val="A485B2"/>
                </a:solidFill>
              </a:defRPr>
            </a:pPr>
            <a:r>
              <a:rPr sz="13350" b="1" i="0">
                <a:solidFill>
                  <a:srgbClr val="A485B2"/>
                </a:solidFill>
              </a:rPr>
              <a:t>+35.7%</a:t>
            </a:r>
          </a:p>
        </p:txBody>
      </p:sp>
      <p:sp>
        <p:nvSpPr>
          <p:cNvPr id="4" name="movement-label-6">
            <a:extLst xmlns:a="http://schemas.openxmlformats.org/drawingml/2006/main">
              <a:ext uri="{FF2B5EF4-FFF2-40B4-BE49-F238E27FC236}">
                <a16:creationId xmlns:a16="http://schemas.microsoft.com/office/drawing/2014/main" id="{788604DF-0936-4200-802D-1DF663F6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9A6A0"/>
                </a:solidFill>
              </a:defRPr>
            </a:pPr>
            <a:r>
              <a:rPr sz="1800" b="1" i="0">
                <a:solidFill>
                  <a:srgbClr val="A9A6A0"/>
                </a:solidFill>
              </a:rPr>
              <a:t>MEDIAN ESTIMATED STRENGTH CHANGE</a:t>
            </a:r>
          </a:p>
        </p:txBody>
      </p:sp>
      <p:sp>
        <p:nvSpPr>
          <p:cNvPr id="5" name="movement-time-6">
            <a:extLst xmlns:a="http://schemas.openxmlformats.org/drawingml/2006/main">
              <a:ext uri="{FF2B5EF4-FFF2-40B4-BE49-F238E27FC236}">
                <a16:creationId xmlns:a16="http://schemas.microsoft.com/office/drawing/2014/main" id="{D938AC6F-CEAC-4E36-B623-53AED833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F1EA"/>
                </a:solidFill>
              </a:defRPr>
            </a:pPr>
            <a:r>
              <a:rPr sz="1800" b="1" i="0">
                <a:solidFill>
                  <a:srgbClr val="F4F1EA"/>
                </a:solidFill>
              </a:rPr>
              <a:t>AFTER SIX MONTHS</a:t>
            </a:r>
          </a:p>
        </p:txBody>
      </p:sp>
      <p:sp>
        <p:nvSpPr>
          <p:cNvPr id="6" name="movement-note-6">
            <a:extLst xmlns:a="http://schemas.openxmlformats.org/drawingml/2006/main">
              <a:ext uri="{FF2B5EF4-FFF2-40B4-BE49-F238E27FC236}">
                <a16:creationId xmlns:a16="http://schemas.microsoft.com/office/drawing/2014/main" id="{DC5D9300-31BC-4315-8051-AE70786D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10375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4F1EA"/>
                </a:solidFill>
              </a:defRPr>
            </a:pPr>
            <a:r>
              <a:rPr sz="2100" b="0" i="0">
                <a:solidFill>
                  <a:srgbClr val="F4F1EA"/>
                </a:solidFill>
              </a:rPr>
              <a:t>129 women with paired six-month measurements.</a:t>
            </a:r>
          </a:p>
        </p:txBody>
      </p:sp>
      <p:sp>
        <p:nvSpPr>
          <p:cNvPr id="7" name="movement-caveat-6">
            <a:extLst xmlns:a="http://schemas.openxmlformats.org/drawingml/2006/main">
              <a:ext uri="{FF2B5EF4-FFF2-40B4-BE49-F238E27FC236}">
                <a16:creationId xmlns:a16="http://schemas.microsoft.com/office/drawing/2014/main" id="{87BCF0D4-A490-4D63-86E0-306CF98D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A9A6A0"/>
                </a:solidFill>
              </a:defRPr>
            </a:pPr>
            <a:r>
              <a:rPr sz="1425" b="0" i="1">
                <a:solidFill>
                  <a:srgbClr val="A9A6A0"/>
                </a:solidFill>
              </a:rPr>
              <a:t>Combines coach-confirmed Nexus, front-squat and back-squat recording aliases.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8334375"/>
          <a:ext xmlns:a="http://schemas.openxmlformats.org/drawingml/2006/main" cx="8953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8694c7cf7e4d8c"/>
          </a:graphicData>
        </a:graphic>
      </p:graphicFrame>
      <p:sp>
        <p:nvSpPr>
          <p:cNvPr id="9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FFCA71C0-8BCA-44AD-A3B8-F7F8DECA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87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B7766359-5771-4680-B063-CE4968A1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9A6A0"/>
                </a:solidFill>
              </a:defRPr>
            </a:pPr>
            <a:r>
              <a:rPr sz="1275" b="1" i="0">
                <a:solidFill>
                  <a:srgbClr val="A9A6A0"/>
                </a:solidFill>
              </a:rPr>
              <a:t>THE EVOLVED  |  WOMEN'S STRENGTH REPORT 2026</a:t>
            </a:r>
          </a:p>
        </p:txBody>
      </p:sp>
      <p:sp>
        <p:nvSpPr>
          <p:cNvPr id="11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3ACA4829-965B-4487-B84B-A2A03880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982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9A6A0"/>
                </a:solidFill>
              </a:defRPr>
            </a:pPr>
            <a:r>
              <a:rPr sz="1425" b="1" i="0">
                <a:solidFill>
                  <a:srgbClr val="A9A6A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09567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The scale of t">
            <a:extLst xmlns:a="http://schemas.openxmlformats.org/drawingml/2006/main">
              <a:ext uri="{FF2B5EF4-FFF2-40B4-BE49-F238E27FC236}">
                <a16:creationId xmlns:a16="http://schemas.microsoft.com/office/drawing/2014/main" id="{8A8BD64D-07B2-49E8-B187-BEB1CE3F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85B2"/>
                </a:solidFill>
              </a:defRPr>
            </a:pPr>
            <a:r>
              <a:rPr sz="1500" b="1" i="0">
                <a:solidFill>
                  <a:srgbClr val="A485B2"/>
                </a:solidFill>
              </a:rPr>
              <a:t>THE SCALE OF THE AUDIT</a:t>
            </a:r>
          </a:p>
        </p:txBody>
      </p:sp>
      <p:sp>
        <p:nvSpPr>
          <p:cNvPr id="2" name="scale-head-1">
            <a:extLst xmlns:a="http://schemas.openxmlformats.org/drawingml/2006/main">
              <a:ext uri="{FF2B5EF4-FFF2-40B4-BE49-F238E27FC236}">
                <a16:creationId xmlns:a16="http://schemas.microsoft.com/office/drawing/2014/main" id="{590D7D26-A3D5-45F0-9C89-35DF0232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4F1EA"/>
                </a:solidFill>
              </a:defRPr>
            </a:pPr>
            <a:r>
              <a:rPr sz="5250" b="1" i="0">
                <a:solidFill>
                  <a:srgbClr val="F4F1EA"/>
                </a:solidFill>
              </a:rPr>
              <a:t>This wasn't one</a:t>
            </a:r>
          </a:p>
        </p:txBody>
      </p:sp>
      <p:sp>
        <p:nvSpPr>
          <p:cNvPr id="3" name="scale-head-2">
            <a:extLst xmlns:a="http://schemas.openxmlformats.org/drawingml/2006/main">
              <a:ext uri="{FF2B5EF4-FFF2-40B4-BE49-F238E27FC236}">
                <a16:creationId xmlns:a16="http://schemas.microsoft.com/office/drawing/2014/main" id="{D403E4D0-1A33-4B45-8956-454E0547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895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A485B2"/>
                </a:solidFill>
              </a:defRPr>
            </a:pPr>
            <a:r>
              <a:rPr sz="5250" b="1" i="0">
                <a:solidFill>
                  <a:srgbClr val="A485B2"/>
                </a:solidFill>
              </a:rPr>
              <a:t>transformation.</a:t>
            </a:r>
          </a:p>
        </p:txBody>
      </p:sp>
      <p:sp>
        <p:nvSpPr>
          <p:cNvPr id="4" name="scale-lead">
            <a:extLst xmlns:a="http://schemas.openxmlformats.org/drawingml/2006/main">
              <a:ext uri="{FF2B5EF4-FFF2-40B4-BE49-F238E27FC236}">
                <a16:creationId xmlns:a16="http://schemas.microsoft.com/office/drawing/2014/main" id="{82E754E6-C923-40D9-A3D8-937180FE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A9A6A0"/>
                </a:solidFill>
              </a:defRPr>
            </a:pPr>
            <a:r>
              <a:rPr sz="2550" b="1" i="0">
                <a:solidFill>
                  <a:srgbClr val="A9A6A0"/>
                </a:solidFill>
              </a:rPr>
              <a:t>This was...</a:t>
            </a:r>
          </a:p>
        </p:txBody>
      </p:sp>
      <p:sp>
        <p:nvSpPr>
          <p:cNvPr id="5" name="scale-v">
            <a:extLst xmlns:a="http://schemas.openxmlformats.org/drawingml/2006/main">
              <a:ext uri="{FF2B5EF4-FFF2-40B4-BE49-F238E27FC236}">
                <a16:creationId xmlns:a16="http://schemas.microsoft.com/office/drawing/2014/main" id="{DE000B8C-FAB1-4989-9409-0ABA58ED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33875"/>
            <a:ext cx="19050" cy="576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ale-h">
            <a:extLst xmlns:a="http://schemas.openxmlformats.org/drawingml/2006/main">
              <a:ext uri="{FF2B5EF4-FFF2-40B4-BE49-F238E27FC236}">
                <a16:creationId xmlns:a16="http://schemas.microsoft.com/office/drawing/2014/main" id="{EA892982-5635-47D9-9551-5544BB95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913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ale-num-0">
            <a:extLst xmlns:a="http://schemas.openxmlformats.org/drawingml/2006/main">
              <a:ext uri="{FF2B5EF4-FFF2-40B4-BE49-F238E27FC236}">
                <a16:creationId xmlns:a16="http://schemas.microsoft.com/office/drawing/2014/main" id="{CB09D6CF-4903-4C0C-BA47-A5B2C653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4F1EA"/>
                </a:solidFill>
              </a:defRPr>
            </a:pPr>
            <a:r>
              <a:rPr sz="5250" b="1" i="0">
                <a:solidFill>
                  <a:srgbClr val="F4F1EA"/>
                </a:solidFill>
              </a:rPr>
              <a:t>25,186</a:t>
            </a:r>
          </a:p>
        </p:txBody>
      </p:sp>
      <p:sp>
        <p:nvSpPr>
          <p:cNvPr id="8" name="scale-label-0">
            <a:extLst xmlns:a="http://schemas.openxmlformats.org/drawingml/2006/main">
              <a:ext uri="{FF2B5EF4-FFF2-40B4-BE49-F238E27FC236}">
                <a16:creationId xmlns:a16="http://schemas.microsoft.com/office/drawing/2014/main" id="{683AFB83-CA23-4E60-951C-FE648F42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9A6A0"/>
                </a:solidFill>
              </a:defRPr>
            </a:pPr>
            <a:r>
              <a:rPr sz="1500" b="1" i="0">
                <a:solidFill>
                  <a:srgbClr val="A9A6A0"/>
                </a:solidFill>
              </a:rPr>
              <a:t>TRACKED WORKOUTS</a:t>
            </a:r>
          </a:p>
        </p:txBody>
      </p:sp>
      <p:sp>
        <p:nvSpPr>
          <p:cNvPr id="9" name="scale-num-1">
            <a:extLst xmlns:a="http://schemas.openxmlformats.org/drawingml/2006/main">
              <a:ext uri="{FF2B5EF4-FFF2-40B4-BE49-F238E27FC236}">
                <a16:creationId xmlns:a16="http://schemas.microsoft.com/office/drawing/2014/main" id="{F146D707-8936-4A20-858C-32C19B7E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291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A485B2"/>
                </a:solidFill>
              </a:defRPr>
            </a:pPr>
            <a:r>
              <a:rPr sz="5250" b="1" i="0">
                <a:solidFill>
                  <a:srgbClr val="A485B2"/>
                </a:solidFill>
              </a:rPr>
              <a:t>539,694</a:t>
            </a:r>
          </a:p>
        </p:txBody>
      </p:sp>
      <p:sp>
        <p:nvSpPr>
          <p:cNvPr id="10" name="scale-label-1">
            <a:extLst xmlns:a="http://schemas.openxmlformats.org/drawingml/2006/main">
              <a:ext uri="{FF2B5EF4-FFF2-40B4-BE49-F238E27FC236}">
                <a16:creationId xmlns:a16="http://schemas.microsoft.com/office/drawing/2014/main" id="{50A4533E-86EE-4DDA-BDD8-E6A25C3C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72125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9A6A0"/>
                </a:solidFill>
              </a:defRPr>
            </a:pPr>
            <a:r>
              <a:rPr sz="1500" b="1" i="0">
                <a:solidFill>
                  <a:srgbClr val="A9A6A0"/>
                </a:solidFill>
              </a:rPr>
              <a:t>RECORDED EXERCISE RESULTS</a:t>
            </a:r>
          </a:p>
        </p:txBody>
      </p:sp>
      <p:sp>
        <p:nvSpPr>
          <p:cNvPr id="11" name="scale-num-2">
            <a:extLst xmlns:a="http://schemas.openxmlformats.org/drawingml/2006/main">
              <a:ext uri="{FF2B5EF4-FFF2-40B4-BE49-F238E27FC236}">
                <a16:creationId xmlns:a16="http://schemas.microsoft.com/office/drawing/2014/main" id="{C790B42B-E996-47E8-850E-9A525CA2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723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4F1EA"/>
                </a:solidFill>
              </a:defRPr>
            </a:pPr>
            <a:r>
              <a:rPr sz="5250" b="1" i="0">
                <a:solidFill>
                  <a:srgbClr val="F4F1EA"/>
                </a:solidFill>
              </a:rPr>
              <a:t>22,764</a:t>
            </a:r>
          </a:p>
        </p:txBody>
      </p:sp>
      <p:sp>
        <p:nvSpPr>
          <p:cNvPr id="12" name="scale-label-2">
            <a:extLst xmlns:a="http://schemas.openxmlformats.org/drawingml/2006/main">
              <a:ext uri="{FF2B5EF4-FFF2-40B4-BE49-F238E27FC236}">
                <a16:creationId xmlns:a16="http://schemas.microsoft.com/office/drawing/2014/main" id="{EFD4E904-1BBA-4915-B56C-A76A21CF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15375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9A6A0"/>
                </a:solidFill>
              </a:defRPr>
            </a:pPr>
            <a:r>
              <a:rPr sz="1500" b="1" i="0">
                <a:solidFill>
                  <a:srgbClr val="A9A6A0"/>
                </a:solidFill>
              </a:rPr>
              <a:t>DETAILED WORKOUTS RECOVERED</a:t>
            </a:r>
          </a:p>
        </p:txBody>
      </p:sp>
      <p:sp>
        <p:nvSpPr>
          <p:cNvPr id="13" name="scale-num-3">
            <a:extLst xmlns:a="http://schemas.openxmlformats.org/drawingml/2006/main">
              <a:ext uri="{FF2B5EF4-FFF2-40B4-BE49-F238E27FC236}">
                <a16:creationId xmlns:a16="http://schemas.microsoft.com/office/drawing/2014/main" id="{F03B6812-6FD5-44F4-9859-A32F9149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5723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4F1EA"/>
                </a:solidFill>
              </a:defRPr>
            </a:pPr>
            <a:r>
              <a:rPr sz="5250" b="1" i="0">
                <a:solidFill>
                  <a:srgbClr val="F4F1EA"/>
                </a:solidFill>
              </a:rPr>
              <a:t>484</a:t>
            </a:r>
          </a:p>
        </p:txBody>
      </p:sp>
      <p:sp>
        <p:nvSpPr>
          <p:cNvPr id="14" name="scale-label-3">
            <a:extLst xmlns:a="http://schemas.openxmlformats.org/drawingml/2006/main">
              <a:ext uri="{FF2B5EF4-FFF2-40B4-BE49-F238E27FC236}">
                <a16:creationId xmlns:a16="http://schemas.microsoft.com/office/drawing/2014/main" id="{500BEB4A-2BDB-4301-80C4-B95D5CD3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8715375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9A6A0"/>
                </a:solidFill>
              </a:defRPr>
            </a:pPr>
            <a:r>
              <a:rPr sz="1500" b="1" i="0">
                <a:solidFill>
                  <a:srgbClr val="A9A6A0"/>
                </a:solidFill>
              </a:rPr>
              <a:t>WOMEN WITH COMPLETED TRAINING HISTORIES</a:t>
            </a:r>
          </a:p>
        </p:txBody>
      </p:sp>
      <p:sp>
        <p:nvSpPr>
          <p:cNvPr id="15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13F2366B-6746-4F78-8954-44CE5205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87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BF7D1BC7-77D5-4100-B58C-F4EC9988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9A6A0"/>
                </a:solidFill>
              </a:defRPr>
            </a:pPr>
            <a:r>
              <a:rPr sz="1275" b="1" i="0">
                <a:solidFill>
                  <a:srgbClr val="A9A6A0"/>
                </a:solidFill>
              </a:rPr>
              <a:t>THE EVOLVED  |  WOMEN'S STRENGTH REPORT 2026</a:t>
            </a:r>
          </a:p>
        </p:txBody>
      </p:sp>
      <p:sp>
        <p:nvSpPr>
          <p:cNvPr id="17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730AFF5B-7B07-407E-90F3-209A88A2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982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9A6A0"/>
                </a:solidFill>
              </a:defRPr>
            </a:pPr>
            <a:r>
              <a:rPr sz="1425" b="1" i="0">
                <a:solidFill>
                  <a:srgbClr val="A9A6A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90601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What we choose">
            <a:extLst xmlns:a="http://schemas.openxmlformats.org/drawingml/2006/main">
              <a:ext uri="{FF2B5EF4-FFF2-40B4-BE49-F238E27FC236}">
                <a16:creationId xmlns:a16="http://schemas.microsoft.com/office/drawing/2014/main" id="{6BEC2A84-4008-43F5-9EE2-D6C77CA8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E638C"/>
                </a:solidFill>
              </a:defRPr>
            </a:pPr>
            <a:r>
              <a:rPr sz="1500" b="1" i="0">
                <a:solidFill>
                  <a:srgbClr val="7E638C"/>
                </a:solidFill>
              </a:rPr>
              <a:t>WHAT WE CHOOSE TO VALUE</a:t>
            </a:r>
          </a:p>
        </p:txBody>
      </p:sp>
      <p:sp>
        <p:nvSpPr>
          <p:cNvPr id="2" name="philosophy-head">
            <a:extLst xmlns:a="http://schemas.openxmlformats.org/drawingml/2006/main">
              <a:ext uri="{FF2B5EF4-FFF2-40B4-BE49-F238E27FC236}">
                <a16:creationId xmlns:a16="http://schemas.microsoft.com/office/drawing/2014/main" id="{10F50F8F-6765-4777-8CCE-81A577B9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953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0B0B0C"/>
                </a:solidFill>
              </a:defRPr>
            </a:pPr>
            <a:r>
              <a:rPr sz="4950" b="1" i="0">
                <a:solidFill>
                  <a:srgbClr val="0B0B0C"/>
                </a:solidFill>
              </a:rPr>
              <a:t>The story is bigger than</a:t>
            </a:r>
          </a:p>
          <a:p xmlns:a="http://schemas.openxmlformats.org/drawingml/2006/main">
            <a:pPr algn="l">
              <a:defRPr sz="4950" b="1" i="0">
                <a:solidFill>
                  <a:srgbClr val="0B0B0C"/>
                </a:solidFill>
              </a:defRPr>
            </a:pPr>
            <a:r>
              <a:rPr sz="4950" b="1" i="0">
                <a:solidFill>
                  <a:srgbClr val="0B0B0C"/>
                </a:solidFill>
              </a:rPr>
              <a:t>calories, sweat or scales.</a:t>
            </a:r>
          </a:p>
        </p:txBody>
      </p:sp>
      <p:sp>
        <p:nvSpPr>
          <p:cNvPr id="3" name="philosophy-lead">
            <a:extLst xmlns:a="http://schemas.openxmlformats.org/drawingml/2006/main">
              <a:ext uri="{FF2B5EF4-FFF2-40B4-BE49-F238E27FC236}">
                <a16:creationId xmlns:a16="http://schemas.microsoft.com/office/drawing/2014/main" id="{655FDEAF-F851-40DC-BF01-801E821A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E638C"/>
                </a:solidFill>
              </a:defRPr>
            </a:pPr>
            <a:r>
              <a:rPr sz="1800" b="1" i="0">
                <a:solidFill>
                  <a:srgbClr val="7E638C"/>
                </a:solidFill>
              </a:rPr>
              <a:t>WE MEASURE</a:t>
            </a:r>
          </a:p>
        </p:txBody>
      </p:sp>
      <p:sp>
        <p:nvSpPr>
          <p:cNvPr id="4" name="value-0">
            <a:extLst xmlns:a="http://schemas.openxmlformats.org/drawingml/2006/main">
              <a:ext uri="{FF2B5EF4-FFF2-40B4-BE49-F238E27FC236}">
                <a16:creationId xmlns:a16="http://schemas.microsoft.com/office/drawing/2014/main" id="{2D1AAC6C-7C9B-4AE2-92C8-4F5353EC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0B0B0C"/>
                </a:solidFill>
              </a:defRPr>
            </a:pPr>
            <a:r>
              <a:rPr sz="5400" b="1" i="0">
                <a:solidFill>
                  <a:srgbClr val="0B0B0C"/>
                </a:solidFill>
              </a:rPr>
              <a:t>CAPABILITY.</a:t>
            </a:r>
          </a:p>
        </p:txBody>
      </p:sp>
      <p:sp>
        <p:nvSpPr>
          <p:cNvPr id="5" name="value-1">
            <a:extLst xmlns:a="http://schemas.openxmlformats.org/drawingml/2006/main">
              <a:ext uri="{FF2B5EF4-FFF2-40B4-BE49-F238E27FC236}">
                <a16:creationId xmlns:a16="http://schemas.microsoft.com/office/drawing/2014/main" id="{1F7F899E-EF23-4141-8E3E-2E10CB17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15125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0B0B0C"/>
                </a:solidFill>
              </a:defRPr>
            </a:pPr>
            <a:r>
              <a:rPr sz="5400" b="1" i="0">
                <a:solidFill>
                  <a:srgbClr val="0B0B0C"/>
                </a:solidFill>
              </a:rPr>
              <a:t>STRENGTH.</a:t>
            </a:r>
          </a:p>
        </p:txBody>
      </p:sp>
      <p:sp>
        <p:nvSpPr>
          <p:cNvPr id="6" name="value-2">
            <a:extLst xmlns:a="http://schemas.openxmlformats.org/drawingml/2006/main">
              <a:ext uri="{FF2B5EF4-FFF2-40B4-BE49-F238E27FC236}">
                <a16:creationId xmlns:a16="http://schemas.microsoft.com/office/drawing/2014/main" id="{3A88A533-FB68-40DB-B611-F4EDE512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0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0B0B0C"/>
                </a:solidFill>
              </a:defRPr>
            </a:pPr>
            <a:r>
              <a:rPr sz="5400" b="1" i="0">
                <a:solidFill>
                  <a:srgbClr val="0B0B0C"/>
                </a:solidFill>
              </a:rPr>
              <a:t>LONGEVITY.</a:t>
            </a:r>
          </a:p>
        </p:txBody>
      </p:sp>
      <p:sp>
        <p:nvSpPr>
          <p:cNvPr id="7" name="value-3">
            <a:extLst xmlns:a="http://schemas.openxmlformats.org/drawingml/2006/main">
              <a:ext uri="{FF2B5EF4-FFF2-40B4-BE49-F238E27FC236}">
                <a16:creationId xmlns:a16="http://schemas.microsoft.com/office/drawing/2014/main" id="{ECDC8FE0-A096-4E8E-B279-54A9F76E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286875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7E638C"/>
                </a:solidFill>
              </a:defRPr>
            </a:pPr>
            <a:r>
              <a:rPr sz="5400" b="1" i="0">
                <a:solidFill>
                  <a:srgbClr val="7E638C"/>
                </a:solidFill>
              </a:rPr>
              <a:t>CONFIDENCE.</a:t>
            </a:r>
          </a:p>
        </p:txBody>
      </p:sp>
      <p:sp>
        <p:nvSpPr>
          <p:cNvPr id="8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046D337E-45C6-4224-9F7C-6D01722A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87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8E088B67-D736-4C05-B463-C83854CF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0B0C"/>
                </a:solidFill>
              </a:defRPr>
            </a:pPr>
            <a:r>
              <a:rPr sz="1275" b="1" i="0">
                <a:solidFill>
                  <a:srgbClr val="0B0B0C"/>
                </a:solidFill>
              </a:rPr>
              <a:t>THE EVOLVED  |  WOMEN'S STRENGTH REPORT 2026</a:t>
            </a:r>
          </a:p>
        </p:txBody>
      </p:sp>
      <p:sp>
        <p:nvSpPr>
          <p:cNvPr id="1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6BD6FDDC-3740-4782-A479-B24B6B0E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982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0B0B0C"/>
                </a:solidFill>
              </a:defRPr>
            </a:pPr>
            <a:r>
              <a:rPr sz="1425" b="1" i="0">
                <a:solidFill>
                  <a:srgbClr val="0B0B0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37318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Method before ">
            <a:extLst xmlns:a="http://schemas.openxmlformats.org/drawingml/2006/main">
              <a:ext uri="{FF2B5EF4-FFF2-40B4-BE49-F238E27FC236}">
                <a16:creationId xmlns:a16="http://schemas.microsoft.com/office/drawing/2014/main" id="{A3616DD3-2346-4DCB-A006-FF054B43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85B2"/>
                </a:solidFill>
              </a:defRPr>
            </a:pPr>
            <a:r>
              <a:rPr sz="1500" b="1" i="0">
                <a:solidFill>
                  <a:srgbClr val="A485B2"/>
                </a:solidFill>
              </a:rPr>
              <a:t>METHOD BEFORE MARKETING</a:t>
            </a:r>
          </a:p>
        </p:txBody>
      </p:sp>
      <p:sp>
        <p:nvSpPr>
          <p:cNvPr id="2" name="method-head-1">
            <a:extLst xmlns:a="http://schemas.openxmlformats.org/drawingml/2006/main">
              <a:ext uri="{FF2B5EF4-FFF2-40B4-BE49-F238E27FC236}">
                <a16:creationId xmlns:a16="http://schemas.microsoft.com/office/drawing/2014/main" id="{014655AE-D783-4A3B-9C93-8EFEEF76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895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4F1EA"/>
                </a:solidFill>
              </a:defRPr>
            </a:pPr>
            <a:r>
              <a:rPr sz="5250" b="1" i="0">
                <a:solidFill>
                  <a:srgbClr val="F4F1EA"/>
                </a:solidFill>
              </a:rPr>
              <a:t>This isn't motivation.</a:t>
            </a:r>
          </a:p>
        </p:txBody>
      </p:sp>
      <p:sp>
        <p:nvSpPr>
          <p:cNvPr id="3" name="method-head-2">
            <a:extLst xmlns:a="http://schemas.openxmlformats.org/drawingml/2006/main">
              <a:ext uri="{FF2B5EF4-FFF2-40B4-BE49-F238E27FC236}">
                <a16:creationId xmlns:a16="http://schemas.microsoft.com/office/drawing/2014/main" id="{16C463BA-D029-4407-99C5-78B5A463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895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A485B2"/>
                </a:solidFill>
              </a:defRPr>
            </a:pPr>
            <a:r>
              <a:rPr sz="5250" b="1" i="0">
                <a:solidFill>
                  <a:srgbClr val="A485B2"/>
                </a:solidFill>
              </a:rPr>
              <a:t>This is measurement.</a:t>
            </a:r>
          </a:p>
        </p:txBody>
      </p:sp>
      <p:sp>
        <p:nvSpPr>
          <p:cNvPr id="4" name="method-num-0">
            <a:extLst xmlns:a="http://schemas.openxmlformats.org/drawingml/2006/main">
              <a:ext uri="{FF2B5EF4-FFF2-40B4-BE49-F238E27FC236}">
                <a16:creationId xmlns:a16="http://schemas.microsoft.com/office/drawing/2014/main" id="{10F20D77-24A0-456E-B081-207EBDB4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A485B2"/>
                </a:solidFill>
              </a:defRPr>
            </a:pPr>
            <a:r>
              <a:rPr sz="2100" b="1" i="0">
                <a:solidFill>
                  <a:srgbClr val="A485B2"/>
                </a:solidFill>
              </a:rPr>
              <a:t>01</a:t>
            </a:r>
          </a:p>
        </p:txBody>
      </p:sp>
      <p:sp>
        <p:nvSpPr>
          <p:cNvPr id="5" name="method-step-0">
            <a:extLst xmlns:a="http://schemas.openxmlformats.org/drawingml/2006/main">
              <a:ext uri="{FF2B5EF4-FFF2-40B4-BE49-F238E27FC236}">
                <a16:creationId xmlns:a16="http://schemas.microsoft.com/office/drawing/2014/main" id="{836AB606-1156-459D-A0E4-BF9E7295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4F1EA"/>
                </a:solidFill>
              </a:defRPr>
            </a:pPr>
            <a:r>
              <a:rPr sz="2400" b="1" i="0">
                <a:solidFill>
                  <a:srgbClr val="F4F1EA"/>
                </a:solidFill>
              </a:rPr>
              <a:t>STRUCTURED PROGRESSIVE PROGRAMMING</a:t>
            </a:r>
          </a:p>
        </p:txBody>
      </p:sp>
      <p:sp>
        <p:nvSpPr>
          <p:cNvPr id="6" name="method-rule-0">
            <a:extLst xmlns:a="http://schemas.openxmlformats.org/drawingml/2006/main">
              <a:ext uri="{FF2B5EF4-FFF2-40B4-BE49-F238E27FC236}">
                <a16:creationId xmlns:a16="http://schemas.microsoft.com/office/drawing/2014/main" id="{2A0CD620-7B1C-4EE2-BBCC-CD7E21A2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48325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num-1">
            <a:extLst xmlns:a="http://schemas.openxmlformats.org/drawingml/2006/main">
              <a:ext uri="{FF2B5EF4-FFF2-40B4-BE49-F238E27FC236}">
                <a16:creationId xmlns:a16="http://schemas.microsoft.com/office/drawing/2014/main" id="{4E0E9D3B-677A-48EA-9785-E69FFA1B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A485B2"/>
                </a:solidFill>
              </a:defRPr>
            </a:pPr>
            <a:r>
              <a:rPr sz="2100" b="1" i="0">
                <a:solidFill>
                  <a:srgbClr val="A485B2"/>
                </a:solidFill>
              </a:rPr>
              <a:t>02</a:t>
            </a:r>
          </a:p>
        </p:txBody>
      </p:sp>
      <p:sp>
        <p:nvSpPr>
          <p:cNvPr id="8" name="method-step-1">
            <a:extLst xmlns:a="http://schemas.openxmlformats.org/drawingml/2006/main">
              <a:ext uri="{FF2B5EF4-FFF2-40B4-BE49-F238E27FC236}">
                <a16:creationId xmlns:a16="http://schemas.microsoft.com/office/drawing/2014/main" id="{717A97B8-7D44-4073-8DE8-F67D2206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4F1EA"/>
                </a:solidFill>
              </a:defRPr>
            </a:pPr>
            <a:r>
              <a:rPr sz="2400" b="1" i="0">
                <a:solidFill>
                  <a:srgbClr val="F4F1EA"/>
                </a:solidFill>
              </a:rPr>
              <a:t>WORKOUTS TRACKED</a:t>
            </a:r>
          </a:p>
        </p:txBody>
      </p:sp>
      <p:sp>
        <p:nvSpPr>
          <p:cNvPr id="9" name="method-rule-1">
            <a:extLst xmlns:a="http://schemas.openxmlformats.org/drawingml/2006/main">
              <a:ext uri="{FF2B5EF4-FFF2-40B4-BE49-F238E27FC236}">
                <a16:creationId xmlns:a16="http://schemas.microsoft.com/office/drawing/2014/main" id="{682628CF-2BF8-4C30-8405-34883353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077075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num-2">
            <a:extLst xmlns:a="http://schemas.openxmlformats.org/drawingml/2006/main">
              <a:ext uri="{FF2B5EF4-FFF2-40B4-BE49-F238E27FC236}">
                <a16:creationId xmlns:a16="http://schemas.microsoft.com/office/drawing/2014/main" id="{CA678019-D9D5-4440-91AB-725B6626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628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A485B2"/>
                </a:solidFill>
              </a:defRPr>
            </a:pPr>
            <a:r>
              <a:rPr sz="2100" b="1" i="0">
                <a:solidFill>
                  <a:srgbClr val="A485B2"/>
                </a:solidFill>
              </a:rPr>
              <a:t>03</a:t>
            </a:r>
          </a:p>
        </p:txBody>
      </p:sp>
      <p:sp>
        <p:nvSpPr>
          <p:cNvPr id="11" name="method-step-2">
            <a:extLst xmlns:a="http://schemas.openxmlformats.org/drawingml/2006/main">
              <a:ext uri="{FF2B5EF4-FFF2-40B4-BE49-F238E27FC236}">
                <a16:creationId xmlns:a16="http://schemas.microsoft.com/office/drawing/2014/main" id="{13E01FDB-0487-4AB6-9087-9A0E7266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762875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4F1EA"/>
                </a:solidFill>
              </a:defRPr>
            </a:pPr>
            <a:r>
              <a:rPr sz="2400" b="1" i="0">
                <a:solidFill>
                  <a:srgbClr val="F4F1EA"/>
                </a:solidFill>
              </a:rPr>
              <a:t>RESULTS RECORDED</a:t>
            </a:r>
          </a:p>
        </p:txBody>
      </p:sp>
      <p:sp>
        <p:nvSpPr>
          <p:cNvPr id="12" name="method-rule-2">
            <a:extLst xmlns:a="http://schemas.openxmlformats.org/drawingml/2006/main">
              <a:ext uri="{FF2B5EF4-FFF2-40B4-BE49-F238E27FC236}">
                <a16:creationId xmlns:a16="http://schemas.microsoft.com/office/drawing/2014/main" id="{039811F2-419F-432B-824D-8DCA22E3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505825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hod-disclaimer">
            <a:extLst xmlns:a="http://schemas.openxmlformats.org/drawingml/2006/main">
              <a:ext uri="{FF2B5EF4-FFF2-40B4-BE49-F238E27FC236}">
                <a16:creationId xmlns:a16="http://schemas.microsoft.com/office/drawing/2014/main" id="{127145FC-01CE-4257-A74B-81033998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53625"/>
            <a:ext cx="8953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9A6A0"/>
                </a:solidFill>
              </a:defRPr>
            </a:pPr>
            <a:r>
              <a:rPr sz="1650" b="0" i="0">
                <a:solidFill>
                  <a:srgbClr val="A9A6A0"/>
                </a:solidFill>
              </a:rPr>
              <a:t>Internal retrospective observational audit of accessible training logs, not a controlled scientific study. Findings describe women with comparable records and do not establish causation.</a:t>
            </a:r>
          </a:p>
        </p:txBody>
      </p:sp>
      <p:sp>
        <p:nvSpPr>
          <p:cNvPr id="14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6208E997-F913-4B88-8880-381FECAC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87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18C76453-AE65-4FFB-91DE-1358759D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9A6A0"/>
                </a:solidFill>
              </a:defRPr>
            </a:pPr>
            <a:r>
              <a:rPr sz="1275" b="1" i="0">
                <a:solidFill>
                  <a:srgbClr val="A9A6A0"/>
                </a:solidFill>
              </a:rPr>
              <a:t>THE EVOLVED  |  WOMEN'S STRENGTH REPORT 2026</a:t>
            </a:r>
          </a:p>
        </p:txBody>
      </p:sp>
      <p:sp>
        <p:nvSpPr>
          <p:cNvPr id="1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164008DF-855E-4C0F-9B49-3B482E3A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982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9A6A0"/>
                </a:solidFill>
              </a:defRPr>
            </a:pPr>
            <a:r>
              <a:rPr sz="1425" b="1" i="0">
                <a:solidFill>
                  <a:srgbClr val="A9A6A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39986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B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ta-kicker">
            <a:extLst xmlns:a="http://schemas.openxmlformats.org/drawingml/2006/main">
              <a:ext uri="{FF2B5EF4-FFF2-40B4-BE49-F238E27FC236}">
                <a16:creationId xmlns:a16="http://schemas.microsoft.com/office/drawing/2014/main" id="{A1B6694E-9AA8-456F-B378-70D8BAB5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85B2"/>
                </a:solidFill>
              </a:defRPr>
            </a:pPr>
            <a:r>
              <a:rPr sz="1500" b="1" i="0">
                <a:solidFill>
                  <a:srgbClr val="A485B2"/>
                </a:solidFill>
              </a:rPr>
              <a:t>THE NEXT COHORT</a:t>
            </a:r>
          </a:p>
        </p:txBody>
      </p:sp>
      <p:sp>
        <p:nvSpPr>
          <p:cNvPr id="2" name="cta-head">
            <a:extLst xmlns:a="http://schemas.openxmlformats.org/drawingml/2006/main">
              <a:ext uri="{FF2B5EF4-FFF2-40B4-BE49-F238E27FC236}">
                <a16:creationId xmlns:a16="http://schemas.microsoft.com/office/drawing/2014/main" id="{FB8F677C-F5FB-49EB-BB6B-49C0611A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895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0" b="1" i="0">
                <a:solidFill>
                  <a:srgbClr val="F4F1EA"/>
                </a:solidFill>
              </a:defRPr>
            </a:pPr>
            <a:r>
              <a:rPr sz="7200" b="1" i="0">
                <a:solidFill>
                  <a:srgbClr val="F4F1EA"/>
                </a:solidFill>
              </a:rPr>
              <a:t>Currently at</a:t>
            </a:r>
          </a:p>
          <a:p xmlns:a="http://schemas.openxmlformats.org/drawingml/2006/main">
            <a:pPr algn="l">
              <a:defRPr sz="7200" b="1" i="0">
                <a:solidFill>
                  <a:srgbClr val="F4F1EA"/>
                </a:solidFill>
              </a:defRPr>
            </a:pPr>
            <a:r>
              <a:rPr sz="7200" b="1" i="0">
                <a:solidFill>
                  <a:srgbClr val="F4F1EA"/>
                </a:solidFill>
              </a:rPr>
              <a:t>capacity.</a:t>
            </a:r>
          </a:p>
        </p:txBody>
      </p:sp>
      <p:sp>
        <p:nvSpPr>
          <p:cNvPr id="3" name="cta-accent">
            <a:extLst xmlns:a="http://schemas.openxmlformats.org/drawingml/2006/main">
              <a:ext uri="{FF2B5EF4-FFF2-40B4-BE49-F238E27FC236}">
                <a16:creationId xmlns:a16="http://schemas.microsoft.com/office/drawing/2014/main" id="{F958CC30-49D6-4B6F-86B6-A3F8F54A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85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ta-sub">
            <a:extLst xmlns:a="http://schemas.openxmlformats.org/drawingml/2006/main">
              <a:ext uri="{FF2B5EF4-FFF2-40B4-BE49-F238E27FC236}">
                <a16:creationId xmlns:a16="http://schemas.microsoft.com/office/drawing/2014/main" id="{A2D747B9-EE8C-4C89-88BB-A01345EE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809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4F1EA"/>
                </a:solidFill>
              </a:defRPr>
            </a:pPr>
            <a:r>
              <a:rPr sz="2850" b="1" i="0">
                <a:solidFill>
                  <a:srgbClr val="F4F1EA"/>
                </a:solidFill>
              </a:rPr>
              <a:t>A small number of spots open each month.</a:t>
            </a:r>
          </a:p>
        </p:txBody>
      </p:sp>
      <p:sp>
        <p:nvSpPr>
          <p:cNvPr id="5" name="cta-question">
            <a:extLst xmlns:a="http://schemas.openxmlformats.org/drawingml/2006/main">
              <a:ext uri="{FF2B5EF4-FFF2-40B4-BE49-F238E27FC236}">
                <a16:creationId xmlns:a16="http://schemas.microsoft.com/office/drawing/2014/main" id="{A64DD61D-05FE-47D1-9AAF-0714EA90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0"/>
            <a:ext cx="895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A9A6A0"/>
                </a:solidFill>
              </a:defRPr>
            </a:pPr>
            <a:r>
              <a:rPr sz="3900" b="1" i="0">
                <a:solidFill>
                  <a:srgbClr val="A9A6A0"/>
                </a:solidFill>
              </a:rPr>
              <a:t>Want to become part of the next</a:t>
            </a:r>
          </a:p>
          <a:p xmlns:a="http://schemas.openxmlformats.org/drawingml/2006/main">
            <a:pPr algn="l">
              <a:defRPr sz="3900" b="1" i="0">
                <a:solidFill>
                  <a:srgbClr val="A9A6A0"/>
                </a:solidFill>
              </a:defRPr>
            </a:pPr>
            <a:r>
              <a:rPr sz="3900" b="1" i="0">
                <a:solidFill>
                  <a:srgbClr val="A9A6A0"/>
                </a:solidFill>
              </a:rPr>
              <a:t>Women's Strength Report?</a:t>
            </a:r>
          </a:p>
        </p:txBody>
      </p:sp>
      <p:sp>
        <p:nvSpPr>
          <p:cNvPr id="6" name="cta-action">
            <a:extLst xmlns:a="http://schemas.openxmlformats.org/drawingml/2006/main">
              <a:ext uri="{FF2B5EF4-FFF2-40B4-BE49-F238E27FC236}">
                <a16:creationId xmlns:a16="http://schemas.microsoft.com/office/drawing/2014/main" id="{B2149B07-B83C-4E04-A57F-71D7FDC9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485B2"/>
                </a:solidFill>
              </a:defRPr>
            </a:pPr>
            <a:r>
              <a:rPr sz="3600" b="1" i="0">
                <a:solidFill>
                  <a:srgbClr val="A485B2"/>
                </a:solidFill>
              </a:rPr>
              <a:t>JOIN THE WAITLIST</a:t>
            </a:r>
          </a:p>
        </p:txBody>
      </p:sp>
      <p:sp>
        <p:nvSpPr>
          <p:cNvPr id="7" name="cta-url">
            <a:extLst xmlns:a="http://schemas.openxmlformats.org/drawingml/2006/main">
              <a:ext uri="{FF2B5EF4-FFF2-40B4-BE49-F238E27FC236}">
                <a16:creationId xmlns:a16="http://schemas.microsoft.com/office/drawing/2014/main" id="{9AFA66EF-D493-4C0F-AF04-53DDCA55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34625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F1EA"/>
                </a:solidFill>
              </a:defRPr>
            </a:pPr>
            <a:r>
              <a:rPr sz="2550" b="1" i="0">
                <a:solidFill>
                  <a:srgbClr val="F4F1EA"/>
                </a:solidFill>
              </a:rPr>
              <a:t>theevolvedgym.com.au</a:t>
            </a:r>
          </a:p>
        </p:txBody>
      </p:sp>
      <p:sp>
        <p:nvSpPr>
          <p:cNvPr id="8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6397FD0E-00F0-4762-88B1-13CBF779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8872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C24D7B71-248B-4350-8B8A-93ED9AAE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9A6A0"/>
                </a:solidFill>
              </a:defRPr>
            </a:pPr>
            <a:r>
              <a:rPr sz="1275" b="1" i="0">
                <a:solidFill>
                  <a:srgbClr val="A9A6A0"/>
                </a:solidFill>
              </a:rPr>
              <a:t>THE EVOLVED  |  WOMEN'S STRENGTH REPORT 2026</a:t>
            </a:r>
          </a:p>
        </p:txBody>
      </p:sp>
      <p:sp>
        <p:nvSpPr>
          <p:cNvPr id="1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5E6412A0-81D7-4711-98D1-89476B2E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982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 i="0">
                <a:solidFill>
                  <a:srgbClr val="A9A6A0"/>
                </a:solidFill>
              </a:defRPr>
            </a:pPr>
            <a:r>
              <a:rPr sz="1425" b="1" i="0">
                <a:solidFill>
                  <a:srgbClr val="A9A6A0"/>
                </a:solidFill>
              </a:rPr>
              <a:t>10</a:t>
            </a:r>
          </a:p>
        </p:txBody>
      </p:sp>
      <p:sp>
        <p:nvSpPr>
          <p:cNvPr id="11" name="cta-footer-reinforce">
            <a:extLst xmlns:a="http://schemas.openxmlformats.org/drawingml/2006/main">
              <a:ext uri="{FF2B5EF4-FFF2-40B4-BE49-F238E27FC236}">
                <a16:creationId xmlns:a16="http://schemas.microsoft.com/office/drawing/2014/main" id="{6601C8AE-0B5F-48F1-B464-B8AFC7B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9A6A0"/>
                </a:solidFill>
              </a:defRPr>
            </a:pPr>
            <a:r>
              <a:rPr sz="1275" b="1" i="0">
                <a:solidFill>
                  <a:srgbClr val="A9A6A0"/>
                </a:solidFill>
              </a:rPr>
              <a:t>THE EVOLVED  |  WOMEN'S STRENGTH REPORT 2026</a:t>
            </a:r>
          </a:p>
        </p:txBody>
      </p:sp>
    </p:spTree>
    <p:extLst>
      <p:ext uri="{BB962C8B-B14F-4D97-AF65-F5344CB8AC3E}">
        <p14:creationId xmlns:p14="http://schemas.microsoft.com/office/powerpoint/2010/main" val="733512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2026-07-22T20:13:19.7420000Z</dcterms:created>
  <dcterms:modified xsi:type="dcterms:W3CDTF">2026-07-22T20:13:19.7420000Z</dcterms:modified>
</coreProperties>
</file>